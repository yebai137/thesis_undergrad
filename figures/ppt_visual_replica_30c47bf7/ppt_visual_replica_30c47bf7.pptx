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718536" cy="60167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718536" cy="6016752"/>
          </a:xfrm>
          <a:prstGeom prst="rect">
            <a:avLst/>
          </a:prstGeom>
          <a:solidFill>
            <a:srgbClr val="FBFD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109728"/>
            <a:ext cx="4462272" cy="402336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155448"/>
            <a:ext cx="4462272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CJK SC"/>
              </a:rPr>
              <a:t>训练阶段（离线）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09728"/>
            <a:ext cx="5715000" cy="402336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55448"/>
            <a:ext cx="5715000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CJK SC"/>
              </a:rPr>
              <a:t>模型转换与编译（离线）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96728" y="109728"/>
            <a:ext cx="5239512" cy="402336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96728" y="155448"/>
            <a:ext cx="5239512" cy="2926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Noto Sans CJK SC"/>
              </a:rPr>
              <a:t>板端推理与后处理（在线）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640080"/>
            <a:ext cx="205740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Noto Sans CJK SC"/>
              </a:rPr>
              <a:t>模型训练与权重生成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640080"/>
            <a:ext cx="205740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Noto Sans CJK SC"/>
              </a:rPr>
              <a:t>ONNX 导出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640080"/>
            <a:ext cx="205740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Noto Sans CJK SC"/>
              </a:rPr>
              <a:t>ATC 编译与优化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640080"/>
            <a:ext cx="237744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220" b="1">
                <a:solidFill>
                  <a:srgbClr val="111827"/>
                </a:solidFill>
                <a:latin typeface="Noto Sans CJK SC"/>
              </a:rPr>
              <a:t>生成 OM 模型（离线模型）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53928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19688" y="640080"/>
            <a:ext cx="205740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Noto Sans CJK SC"/>
              </a:rPr>
              <a:t>NPU 推理（板端）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496544" y="649224"/>
            <a:ext cx="283464" cy="283464"/>
          </a:xfrm>
          <a:prstGeom prst="roundRect">
            <a:avLst/>
          </a:prstGeom>
          <a:solidFill>
            <a:srgbClr val="07346F"/>
          </a:solidFill>
          <a:ln w="12700">
            <a:solidFill>
              <a:srgbClr val="073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14832" y="667512"/>
            <a:ext cx="24688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80592" y="640080"/>
            <a:ext cx="2057400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Noto Sans CJK SC"/>
              </a:rPr>
              <a:t>后处理（板端 CPU）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" y="1115568"/>
            <a:ext cx="2304288" cy="4791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A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1243584"/>
            <a:ext cx="1810512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Noto Sans CJK SC"/>
              </a:rPr>
              <a:t>YOLO 检测模型（示例）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" y="1618488"/>
            <a:ext cx="1536192" cy="384048"/>
          </a:xfrm>
          <a:prstGeom prst="roundRect">
            <a:avLst/>
          </a:prstGeom>
          <a:solidFill>
            <a:srgbClr val="E8F4EE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1645920"/>
            <a:ext cx="146304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Noto Sans CJK SC"/>
              </a:rPr>
              <a:t>Backbone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207008" y="2011680"/>
            <a:ext cx="128016" cy="219456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32" y="2286000"/>
            <a:ext cx="1536192" cy="384048"/>
          </a:xfrm>
          <a:prstGeom prst="roundRect">
            <a:avLst/>
          </a:prstGeom>
          <a:solidFill>
            <a:srgbClr val="EDF2FB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2313432"/>
            <a:ext cx="146304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Noto Sans CJK SC"/>
              </a:rPr>
              <a:t>Neck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207008" y="2679192"/>
            <a:ext cx="128016" cy="219456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4632" y="2962656"/>
            <a:ext cx="1536192" cy="384048"/>
          </a:xfrm>
          <a:prstGeom prst="roundRect">
            <a:avLst/>
          </a:prstGeom>
          <a:solidFill>
            <a:srgbClr val="FBF4D7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2990088"/>
            <a:ext cx="146304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Noto Sans CJK SC"/>
              </a:rPr>
              <a:t>Detect Head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66344" y="3355848"/>
            <a:ext cx="786384" cy="256032"/>
          </a:xfrm>
          <a:prstGeom prst="line">
            <a:avLst/>
          </a:prstGeom>
          <a:ln w="12700">
            <a:solidFill>
              <a:srgbClr val="2F5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1024128" y="3355848"/>
            <a:ext cx="228600" cy="256032"/>
          </a:xfrm>
          <a:prstGeom prst="line">
            <a:avLst/>
          </a:prstGeom>
          <a:ln w="12700">
            <a:solidFill>
              <a:srgbClr val="2F5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252728" y="3355848"/>
            <a:ext cx="320040" cy="256032"/>
          </a:xfrm>
          <a:prstGeom prst="line">
            <a:avLst/>
          </a:prstGeom>
          <a:ln w="12700">
            <a:solidFill>
              <a:srgbClr val="2F5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52728" y="3355848"/>
            <a:ext cx="850392" cy="256032"/>
          </a:xfrm>
          <a:prstGeom prst="line">
            <a:avLst/>
          </a:prstGeom>
          <a:ln w="12700">
            <a:solidFill>
              <a:srgbClr val="2F5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19456" y="3621024"/>
            <a:ext cx="493776" cy="438912"/>
          </a:xfrm>
          <a:prstGeom prst="roundRect">
            <a:avLst/>
          </a:prstGeom>
          <a:solidFill>
            <a:srgbClr val="EEF8E7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6032" y="3648456"/>
            <a:ext cx="420624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670" b="0">
                <a:solidFill>
                  <a:srgbClr val="111827"/>
                </a:solidFill>
                <a:latin typeface="Noto Sans CJK SC"/>
              </a:rPr>
              <a:t>DecBBox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8952" y="3621024"/>
            <a:ext cx="493776" cy="438912"/>
          </a:xfrm>
          <a:prstGeom prst="roundRect">
            <a:avLst/>
          </a:prstGeom>
          <a:solidFill>
            <a:srgbClr val="EEF8E7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3648456"/>
            <a:ext cx="420624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770" b="0">
                <a:solidFill>
                  <a:srgbClr val="111827"/>
                </a:solidFill>
                <a:latin typeface="Noto Sans CJK SC"/>
              </a:rPr>
              <a:t>Filter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98448" y="3621024"/>
            <a:ext cx="493776" cy="438912"/>
          </a:xfrm>
          <a:prstGeom prst="roundRect">
            <a:avLst/>
          </a:prstGeom>
          <a:solidFill>
            <a:srgbClr val="EEF8E7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35024" y="3648456"/>
            <a:ext cx="420624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770" b="0">
                <a:solidFill>
                  <a:srgbClr val="111827"/>
                </a:solidFill>
                <a:latin typeface="Noto Sans CJK SC"/>
              </a:rPr>
              <a:t>Sort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37944" y="3621024"/>
            <a:ext cx="493776" cy="438912"/>
          </a:xfrm>
          <a:prstGeom prst="roundRect">
            <a:avLst/>
          </a:prstGeom>
          <a:solidFill>
            <a:srgbClr val="EEF8E7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74519" y="3648456"/>
            <a:ext cx="420624" cy="38404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770" b="0">
                <a:solidFill>
                  <a:srgbClr val="111827"/>
                </a:solidFill>
                <a:latin typeface="Noto Sans CJK SC"/>
              </a:rPr>
              <a:t>NMS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187952"/>
            <a:ext cx="192024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4233672"/>
            <a:ext cx="1737360" cy="43891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Noto Sans CJK SC"/>
              </a:rPr>
              <a:t>任务：行人与电动车检测</a:t>
            </a:r>
          </a:p>
          <a:p>
            <a:pPr algn="l"/>
            <a:r>
              <a:rPr sz="1100" b="1">
                <a:solidFill>
                  <a:srgbClr val="111827"/>
                </a:solidFill>
                <a:latin typeface="Noto Sans CJK SC"/>
              </a:rPr>
              <a:t>类别数：C = 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" y="4983480"/>
            <a:ext cx="20299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9EB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" y="5047488"/>
            <a:ext cx="1783080" cy="6217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19" b="0">
                <a:solidFill>
                  <a:srgbClr val="111827"/>
                </a:solidFill>
                <a:latin typeface="Noto Sans CJK SC"/>
              </a:rPr>
              <a:t>类别索引一致性：</a:t>
            </a:r>
          </a:p>
          <a:p>
            <a:pPr algn="l"/>
            <a:r>
              <a:rPr sz="1019" b="0">
                <a:solidFill>
                  <a:srgbClr val="111827"/>
                </a:solidFill>
                <a:latin typeface="Noto Sans CJK SC"/>
              </a:rPr>
              <a:t>0: person（行人）</a:t>
            </a:r>
          </a:p>
          <a:p>
            <a:pPr algn="l"/>
            <a:r>
              <a:rPr sz="1019" b="0">
                <a:solidFill>
                  <a:srgbClr val="111827"/>
                </a:solidFill>
                <a:latin typeface="Noto Sans CJK SC"/>
              </a:rPr>
              <a:t>1: ebike（电动车）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70632" y="1124712"/>
            <a:ext cx="1627632" cy="4782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A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1380744"/>
            <a:ext cx="896112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Noto Sans CJK SC"/>
              </a:rPr>
              <a:t>ONNX 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36976" y="1874519"/>
            <a:ext cx="694944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40" b="1">
                <a:solidFill>
                  <a:srgbClr val="111827"/>
                </a:solidFill>
                <a:latin typeface="Noto Sans CJK SC"/>
              </a:rPr>
              <a:t>输入张量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62656" y="2112264"/>
            <a:ext cx="1207008" cy="4572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9232" y="2139696"/>
            <a:ext cx="1133856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x ∈ R¹×³×H×W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3493008" y="2587752"/>
            <a:ext cx="146304" cy="1024128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16936" y="3447288"/>
            <a:ext cx="749808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40" b="1">
                <a:solidFill>
                  <a:srgbClr val="111827"/>
                </a:solidFill>
                <a:latin typeface="Noto Sans CJK SC"/>
              </a:rPr>
              <a:t>输出张量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3008" y="3483864"/>
            <a:ext cx="80467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650" b="1">
                <a:solidFill>
                  <a:srgbClr val="B21F32"/>
                </a:solidFill>
                <a:latin typeface="Noto Sans CJK SC"/>
              </a:rPr>
              <a:t>（定制后处理输出）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916936" y="3712464"/>
            <a:ext cx="1298448" cy="46634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53512" y="3739896"/>
            <a:ext cx="1225296" cy="4114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19" b="0">
                <a:solidFill>
                  <a:srgbClr val="111827"/>
                </a:solidFill>
                <a:latin typeface="Noto Sans CJK SC"/>
              </a:rPr>
              <a:t>count + ROI[6]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62072" y="4443984"/>
            <a:ext cx="1453896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A3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44368" y="4535424"/>
            <a:ext cx="1298448" cy="115214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含义：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count：检测数量（标量）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ROI：候选矩形框数据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ROI ∈ R⁶×ᴷ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6 = x₁,y₁,x₂,y₂,score,class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K：最大候选数（固定上限）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92624" y="1152144"/>
            <a:ext cx="2660904" cy="4764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A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148072" y="1399032"/>
            <a:ext cx="2340864" cy="585216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95A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stage3_icon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1517904"/>
            <a:ext cx="283464" cy="28346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5779008" y="1490472"/>
            <a:ext cx="1536192" cy="1828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Noto Sans CJK SC"/>
              </a:rPr>
              <a:t>图转换与合法性检查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79008" y="1709928"/>
            <a:ext cx="153619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60" b="0">
                <a:solidFill>
                  <a:srgbClr val="111827"/>
                </a:solidFill>
                <a:latin typeface="Noto Sans CJK SC"/>
              </a:rPr>
              <a:t>ONNX → Ascend IR</a:t>
            </a:r>
          </a:p>
        </p:txBody>
      </p:sp>
      <p:sp>
        <p:nvSpPr>
          <p:cNvPr id="70" name="Down Arrow 69"/>
          <p:cNvSpPr/>
          <p:nvPr/>
        </p:nvSpPr>
        <p:spPr>
          <a:xfrm>
            <a:off x="6263640" y="2002536"/>
            <a:ext cx="128016" cy="256032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148072" y="2267712"/>
            <a:ext cx="2340864" cy="585216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95A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tage3_icon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2404872"/>
            <a:ext cx="283464" cy="28346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779008" y="2359152"/>
            <a:ext cx="1536192" cy="1828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Noto Sans CJK SC"/>
              </a:rPr>
              <a:t>定制算子映射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79008" y="2578608"/>
            <a:ext cx="153619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60" b="0">
                <a:solidFill>
                  <a:srgbClr val="111827"/>
                </a:solidFill>
                <a:latin typeface="Noto Sans CJK SC"/>
              </a:rPr>
              <a:t>DecBBox / Filter / Sort / NMS</a:t>
            </a:r>
          </a:p>
        </p:txBody>
      </p:sp>
      <p:sp>
        <p:nvSpPr>
          <p:cNvPr id="75" name="Down Arrow 74"/>
          <p:cNvSpPr/>
          <p:nvPr/>
        </p:nvSpPr>
        <p:spPr>
          <a:xfrm>
            <a:off x="6263640" y="2871216"/>
            <a:ext cx="128016" cy="256032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148072" y="3136392"/>
            <a:ext cx="2340864" cy="585216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95A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stage3_icon_ai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3273552"/>
            <a:ext cx="283464" cy="28346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779008" y="3227832"/>
            <a:ext cx="1536192" cy="1828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Noto Sans CJK SC"/>
              </a:rPr>
              <a:t>AIPP 插入与图优化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79008" y="3447288"/>
            <a:ext cx="153619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60" b="0">
                <a:solidFill>
                  <a:srgbClr val="111827"/>
                </a:solidFill>
                <a:latin typeface="Noto Sans CJK SC"/>
              </a:rPr>
              <a:t>格式转换、算子融合、常量折叠等</a:t>
            </a:r>
          </a:p>
        </p:txBody>
      </p:sp>
      <p:sp>
        <p:nvSpPr>
          <p:cNvPr id="80" name="Down Arrow 79"/>
          <p:cNvSpPr/>
          <p:nvPr/>
        </p:nvSpPr>
        <p:spPr>
          <a:xfrm>
            <a:off x="6263640" y="3739896"/>
            <a:ext cx="128016" cy="256032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148072" y="4005072"/>
            <a:ext cx="2340864" cy="585216"/>
          </a:xfrm>
          <a:prstGeom prst="roundRect">
            <a:avLst/>
          </a:prstGeom>
          <a:solidFill>
            <a:srgbClr val="F2ECFB"/>
          </a:solidFill>
          <a:ln w="12700">
            <a:solidFill>
              <a:srgbClr val="95A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stage3_icon_de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4169664"/>
            <a:ext cx="283464" cy="283464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779008" y="4096512"/>
            <a:ext cx="1536192" cy="1828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Noto Sans CJK SC"/>
              </a:rPr>
              <a:t>设备适配与映射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79008" y="4315968"/>
            <a:ext cx="153619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60" b="0">
                <a:solidFill>
                  <a:srgbClr val="111827"/>
                </a:solidFill>
                <a:latin typeface="Noto Sans CJK SC"/>
              </a:rPr>
              <a:t>算子映射、精度适配、内存优化</a:t>
            </a:r>
          </a:p>
        </p:txBody>
      </p:sp>
      <p:sp>
        <p:nvSpPr>
          <p:cNvPr id="85" name="Down Arrow 84"/>
          <p:cNvSpPr/>
          <p:nvPr/>
        </p:nvSpPr>
        <p:spPr>
          <a:xfrm>
            <a:off x="6263640" y="4608576"/>
            <a:ext cx="128016" cy="256032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5148072" y="4882896"/>
            <a:ext cx="2340864" cy="585216"/>
          </a:xfrm>
          <a:prstGeom prst="roundRect">
            <a:avLst/>
          </a:prstGeom>
          <a:solidFill>
            <a:srgbClr val="EEF7FF"/>
          </a:solidFill>
          <a:ln w="12700">
            <a:solidFill>
              <a:srgbClr val="95A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stage3_icon_resour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664" y="5065776"/>
            <a:ext cx="283464" cy="283464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779008" y="4974336"/>
            <a:ext cx="1536192" cy="18288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Noto Sans CJK SC"/>
              </a:rPr>
              <a:t>资源与性能优化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79008" y="5193792"/>
            <a:ext cx="1536192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60" b="0">
                <a:solidFill>
                  <a:srgbClr val="111827"/>
                </a:solidFill>
                <a:latin typeface="Noto Sans CJK SC"/>
              </a:rPr>
              <a:t>内存规划、并行优化、算子选择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147304" y="1152144"/>
            <a:ext cx="2039112" cy="4764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8A2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76488" y="1362456"/>
            <a:ext cx="1371600" cy="2743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20" b="1">
                <a:solidFill>
                  <a:srgbClr val="111827"/>
                </a:solidFill>
                <a:latin typeface="Noto Sans CJK SC"/>
              </a:rPr>
              <a:t>OM 模型文件（.om）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266176" y="1783080"/>
            <a:ext cx="1792224" cy="132588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98A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13648" y="1901952"/>
            <a:ext cx="1152144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计算图（Graph）</a:t>
            </a:r>
          </a:p>
        </p:txBody>
      </p:sp>
      <p:pic>
        <p:nvPicPr>
          <p:cNvPr id="94" name="Picture 93" descr="stage4_graph_visu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2249424"/>
            <a:ext cx="1463040" cy="676656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8266176" y="3127248"/>
            <a:ext cx="1792224" cy="93268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98A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659368" y="3255264"/>
            <a:ext cx="1060704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权重（Weights）</a:t>
            </a:r>
          </a:p>
        </p:txBody>
      </p:sp>
      <p:pic>
        <p:nvPicPr>
          <p:cNvPr id="97" name="Picture 96" descr="stage4_weights_visu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68" y="3557016"/>
            <a:ext cx="1463040" cy="493776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8266176" y="4069080"/>
            <a:ext cx="1792224" cy="166420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98A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668512" y="4169664"/>
            <a:ext cx="1042416" cy="20116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元数据（Metadata）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85048" y="4443984"/>
            <a:ext cx="1554480" cy="111556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输入 / 输出张量描述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输出：count + ROI[6]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数据类型与精度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AIPP 配置信息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设备信息（NPU 型号等）</a:t>
            </a:r>
          </a:p>
          <a:p>
            <a:pPr algn="l"/>
            <a:r>
              <a:rPr sz="740" b="0">
                <a:solidFill>
                  <a:srgbClr val="111827"/>
                </a:solidFill>
                <a:latin typeface="Noto Sans CJK SC"/>
              </a:rPr>
              <a:t>• 其他运行时信息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524744" y="1161288"/>
            <a:ext cx="232257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716768" y="1316736"/>
            <a:ext cx="1920240" cy="2468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60" b="1">
                <a:solidFill>
                  <a:srgbClr val="111827"/>
                </a:solidFill>
                <a:latin typeface="Noto Sans CJK SC"/>
              </a:rPr>
              <a:t>输入张量（来自 DDR）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945368" y="1536192"/>
            <a:ext cx="1536192" cy="384048"/>
          </a:xfrm>
          <a:prstGeom prst="roundRect">
            <a:avLst/>
          </a:prstGeom>
          <a:solidFill>
            <a:srgbClr val="EDF6EA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81944" y="1563624"/>
            <a:ext cx="1463040" cy="32918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Noto Sans CJK SC"/>
              </a:rPr>
              <a:t>x ∈ R¹×³×H×W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11649456" y="1938528"/>
            <a:ext cx="128016" cy="237744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652760" y="2176272"/>
            <a:ext cx="2066544" cy="216712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320272" y="2313432"/>
            <a:ext cx="804672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Noto Sans CJK SC"/>
              </a:rPr>
              <a:t>NPU 计算</a:t>
            </a:r>
          </a:p>
        </p:txBody>
      </p:sp>
      <p:pic>
        <p:nvPicPr>
          <p:cNvPr id="108" name="Picture 107" descr="stage5_npu_arr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2606040"/>
            <a:ext cx="1453896" cy="1764792"/>
          </a:xfrm>
          <a:prstGeom prst="rect">
            <a:avLst/>
          </a:prstGeom>
        </p:spPr>
      </p:pic>
      <p:sp>
        <p:nvSpPr>
          <p:cNvPr id="109" name="Down Arrow 108"/>
          <p:cNvSpPr/>
          <p:nvPr/>
        </p:nvSpPr>
        <p:spPr>
          <a:xfrm>
            <a:off x="11649456" y="4370832"/>
            <a:ext cx="128016" cy="237744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744200" y="4517136"/>
            <a:ext cx="1920240" cy="24688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40" b="1">
                <a:solidFill>
                  <a:srgbClr val="111827"/>
                </a:solidFill>
                <a:latin typeface="Noto Sans CJK SC"/>
              </a:rPr>
              <a:t>输出张量（写回 DDR）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0643616" y="4754880"/>
            <a:ext cx="2066544" cy="786384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B5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927080" y="4809744"/>
            <a:ext cx="1499616" cy="6217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Noto Sans CJK SC"/>
              </a:rPr>
              <a:t>count ∈ R¹</a:t>
            </a:r>
          </a:p>
          <a:p>
            <a:pPr algn="ctr"/>
            <a:r>
              <a:rPr sz="1000" b="0">
                <a:solidFill>
                  <a:srgbClr val="111827"/>
                </a:solidFill>
                <a:latin typeface="Noto Sans CJK SC"/>
              </a:rPr>
              <a:t>ROI ∈ R⁶×ᴷ</a:t>
            </a:r>
          </a:p>
          <a:p>
            <a:pPr algn="ctr"/>
            <a:r>
              <a:rPr sz="1000" b="0">
                <a:solidFill>
                  <a:srgbClr val="111827"/>
                </a:solidFill>
                <a:latin typeface="Noto Sans CJK SC"/>
              </a:rPr>
              <a:t>6 = x₁, y₁, x₂, y₂, score, class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63072" y="5788152"/>
            <a:ext cx="1645920" cy="20116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275D35"/>
                </a:solidFill>
                <a:latin typeface="Noto Sans CJK SC"/>
              </a:rPr>
              <a:t>推理设备：昇腾 NPU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304520" y="1161288"/>
            <a:ext cx="227685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A5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3478256" y="1545336"/>
            <a:ext cx="1892807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3514832" y="1572768"/>
            <a:ext cx="1819656" cy="6217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  <a:latin typeface="Noto Sans CJK SC"/>
              </a:rPr>
              <a:t>ROI 解析与坐标映射</a:t>
            </a:r>
          </a:p>
          <a:p>
            <a:pPr algn="ctr"/>
            <a:r>
              <a:rPr sz="900" b="0">
                <a:solidFill>
                  <a:srgbClr val="111827"/>
                </a:solidFill>
                <a:latin typeface="Noto Sans CJK SC"/>
              </a:rPr>
              <a:t>x₁,y₁,x₂,y₂ 从模型输入尺度</a:t>
            </a:r>
          </a:p>
          <a:p>
            <a:pPr algn="ctr"/>
            <a:r>
              <a:rPr sz="900" b="0">
                <a:solidFill>
                  <a:srgbClr val="111827"/>
                </a:solidFill>
                <a:latin typeface="Noto Sans CJK SC"/>
              </a:rPr>
              <a:t>映射到显示帧坐标</a:t>
            </a:r>
          </a:p>
        </p:txBody>
      </p:sp>
      <p:sp>
        <p:nvSpPr>
          <p:cNvPr id="117" name="Down Arrow 116"/>
          <p:cNvSpPr/>
          <p:nvPr/>
        </p:nvSpPr>
        <p:spPr>
          <a:xfrm>
            <a:off x="14383512" y="2240280"/>
            <a:ext cx="128016" cy="320040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880592" y="2523744"/>
            <a:ext cx="1078992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置信度筛选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3487400" y="2697480"/>
            <a:ext cx="1892807" cy="365760"/>
          </a:xfrm>
          <a:prstGeom prst="roundRect">
            <a:avLst/>
          </a:prstGeom>
          <a:solidFill>
            <a:srgbClr val="EDF6EA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523976" y="2724912"/>
            <a:ext cx="1819656" cy="31089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  <a:latin typeface="Noto Sans CJK SC"/>
              </a:rPr>
              <a:t>score ≥ threshold</a:t>
            </a:r>
          </a:p>
        </p:txBody>
      </p:sp>
      <p:sp>
        <p:nvSpPr>
          <p:cNvPr id="121" name="Down Arrow 120"/>
          <p:cNvSpPr/>
          <p:nvPr/>
        </p:nvSpPr>
        <p:spPr>
          <a:xfrm>
            <a:off x="14383512" y="3081528"/>
            <a:ext cx="128016" cy="320040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3807440" y="3438144"/>
            <a:ext cx="1234440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19" b="1">
                <a:solidFill>
                  <a:srgbClr val="111827"/>
                </a:solidFill>
                <a:latin typeface="Noto Sans CJK SC"/>
              </a:rPr>
              <a:t>二次 NMS / 应用层筛选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487400" y="3758184"/>
            <a:ext cx="1892807" cy="374904"/>
          </a:xfrm>
          <a:prstGeom prst="roundRect">
            <a:avLst/>
          </a:prstGeom>
          <a:solidFill>
            <a:srgbClr val="EDF6EA"/>
          </a:solidFill>
          <a:ln w="12700">
            <a:solidFill>
              <a:srgbClr val="91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523976" y="3785615"/>
            <a:ext cx="1819656" cy="3200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30" b="0">
                <a:solidFill>
                  <a:srgbClr val="111827"/>
                </a:solidFill>
                <a:latin typeface="Noto Sans CJK SC"/>
              </a:rPr>
              <a:t>抑制重叠框，保留最优结果</a:t>
            </a:r>
          </a:p>
        </p:txBody>
      </p:sp>
      <p:sp>
        <p:nvSpPr>
          <p:cNvPr id="125" name="Down Arrow 124"/>
          <p:cNvSpPr/>
          <p:nvPr/>
        </p:nvSpPr>
        <p:spPr>
          <a:xfrm>
            <a:off x="14383512" y="4151376"/>
            <a:ext cx="128016" cy="292608"/>
          </a:xfrm>
          <a:prstGeom prst="down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3487400" y="4334256"/>
            <a:ext cx="1892807" cy="1252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3B7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3880592" y="4443984"/>
            <a:ext cx="1078992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Noto Sans CJK SC"/>
              </a:rPr>
              <a:t>最终检测结果</a:t>
            </a:r>
          </a:p>
        </p:txBody>
      </p:sp>
      <p:pic>
        <p:nvPicPr>
          <p:cNvPr id="128" name="Picture 127" descr="stage6_person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99603" y="4700016"/>
            <a:ext cx="160808" cy="310896"/>
          </a:xfrm>
          <a:prstGeom prst="rect">
            <a:avLst/>
          </a:prstGeom>
        </p:spPr>
      </p:pic>
      <p:pic>
        <p:nvPicPr>
          <p:cNvPr id="129" name="Picture 128" descr="stage6_ebike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42848" y="5111834"/>
            <a:ext cx="310896" cy="21877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4100048" y="4736592"/>
            <a:ext cx="1097280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80" b="0">
                <a:solidFill>
                  <a:srgbClr val="111827"/>
                </a:solidFill>
                <a:latin typeface="Noto Sans CJK SC"/>
              </a:rPr>
              <a:t>person        0.92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100048" y="5120640"/>
            <a:ext cx="1097280" cy="21945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/>
            <a:r>
              <a:rPr sz="980" b="0">
                <a:solidFill>
                  <a:srgbClr val="111827"/>
                </a:solidFill>
                <a:latin typeface="Noto Sans CJK SC"/>
              </a:rPr>
              <a:t>e-bike        0.87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218920" y="5367528"/>
            <a:ext cx="731520" cy="16459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980" b="0">
                <a:solidFill>
                  <a:srgbClr val="111827"/>
                </a:solidFill>
                <a:latin typeface="Noto Sans CJK SC"/>
              </a:rPr>
              <a:t>...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651992" y="5788152"/>
            <a:ext cx="1600200" cy="20116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50" b="1">
                <a:solidFill>
                  <a:srgbClr val="275D35"/>
                </a:solidFill>
                <a:latin typeface="Noto Sans CJK SC"/>
              </a:rPr>
              <a:t>后处理设备：ARM CPU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432304" y="2843784"/>
            <a:ext cx="38404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Noto Sans CJK SC"/>
              </a:rPr>
              <a:t>导出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2468880" y="3154680"/>
            <a:ext cx="320040" cy="201168"/>
          </a:xfrm>
          <a:prstGeom prst="right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590288" y="2843784"/>
            <a:ext cx="38404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Noto Sans CJK SC"/>
              </a:rPr>
              <a:t>输入</a:t>
            </a:r>
          </a:p>
        </p:txBody>
      </p:sp>
      <p:sp>
        <p:nvSpPr>
          <p:cNvPr id="137" name="Right Arrow 136"/>
          <p:cNvSpPr/>
          <p:nvPr/>
        </p:nvSpPr>
        <p:spPr>
          <a:xfrm>
            <a:off x="4626864" y="3154680"/>
            <a:ext cx="320040" cy="201168"/>
          </a:xfrm>
          <a:prstGeom prst="right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717536" y="2843784"/>
            <a:ext cx="384048" cy="2286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11827"/>
                </a:solidFill>
                <a:latin typeface="Noto Sans CJK SC"/>
              </a:rPr>
              <a:t>生成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7754112" y="3154680"/>
            <a:ext cx="320040" cy="201168"/>
          </a:xfrm>
          <a:prstGeom prst="right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ight Arrow 139"/>
          <p:cNvSpPr/>
          <p:nvPr/>
        </p:nvSpPr>
        <p:spPr>
          <a:xfrm>
            <a:off x="10232136" y="3154680"/>
            <a:ext cx="320040" cy="201168"/>
          </a:xfrm>
          <a:prstGeom prst="right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ight Arrow 140"/>
          <p:cNvSpPr/>
          <p:nvPr/>
        </p:nvSpPr>
        <p:spPr>
          <a:xfrm>
            <a:off x="12947904" y="3154680"/>
            <a:ext cx="320040" cy="201168"/>
          </a:xfrm>
          <a:prstGeom prst="rightArrow">
            <a:avLst/>
          </a:prstGeom>
          <a:solidFill>
            <a:srgbClr val="073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