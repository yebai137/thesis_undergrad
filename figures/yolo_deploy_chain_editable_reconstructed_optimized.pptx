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5718155" cy="6016625"/>
  <p:notesSz cx="6016625" cy="1571815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4453128" cy="420624"/>
          </a:xfrm>
          <a:prstGeom prst="roundRect">
            <a:avLst>
              <a:gd name="adj" fmla="val 13043"/>
            </a:avLst>
          </a:prstGeom>
          <a:solidFill>
            <a:srgbClr val="00316B"/>
          </a:solidFill>
          <a:ln w="5080">
            <a:solidFill>
              <a:srgbClr val="0031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109728"/>
            <a:ext cx="445312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训练阶段（离线）</a:t>
            </a:r>
            <a:endParaRPr lang="en-US" sz="16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99432" y="91440"/>
            <a:ext cx="5715000" cy="420624"/>
          </a:xfrm>
          <a:prstGeom prst="roundRect">
            <a:avLst>
              <a:gd name="adj" fmla="val 13043"/>
            </a:avLst>
          </a:prstGeom>
          <a:solidFill>
            <a:srgbClr val="00316B"/>
          </a:solidFill>
          <a:ln w="5080">
            <a:solidFill>
              <a:srgbClr val="0031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99432" y="109728"/>
            <a:ext cx="571500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模型转换与编译（离线）</a:t>
            </a:r>
            <a:endParaRPr lang="en-US" sz="16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369296" y="91440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00316B"/>
          </a:solidFill>
          <a:ln w="5080">
            <a:solidFill>
              <a:srgbClr val="0031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9296" y="109728"/>
            <a:ext cx="525780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板端推理与后处理（在线）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566928"/>
            <a:ext cx="0" cy="5422392"/>
          </a:xfrm>
          <a:prstGeom prst="line">
            <a:avLst/>
          </a:prstGeom>
          <a:noFill/>
          <a:ln w="5715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341864" y="566928"/>
            <a:ext cx="0" cy="5422392"/>
          </a:xfrm>
          <a:prstGeom prst="line">
            <a:avLst/>
          </a:prstGeom>
          <a:noFill/>
          <a:ln w="5715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1480" y="685800"/>
            <a:ext cx="292608" cy="292608"/>
          </a:xfrm>
          <a:prstGeom prst="ellipse">
            <a:avLst/>
          </a:prstGeom>
          <a:solidFill>
            <a:srgbClr val="00316B"/>
          </a:solidFill>
          <a:ln w="3810">
            <a:solidFill>
              <a:srgbClr val="003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694944"/>
            <a:ext cx="292608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5528" y="676656"/>
            <a:ext cx="1856232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模型训练与权重生成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44368" y="685800"/>
            <a:ext cx="292608" cy="292608"/>
          </a:xfrm>
          <a:prstGeom prst="ellipse">
            <a:avLst/>
          </a:prstGeom>
          <a:solidFill>
            <a:srgbClr val="00316B"/>
          </a:solidFill>
          <a:ln w="3810">
            <a:solidFill>
              <a:srgbClr val="003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694944"/>
            <a:ext cx="292608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28416" y="685546"/>
            <a:ext cx="1124712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导出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532120" y="685800"/>
            <a:ext cx="292608" cy="292608"/>
          </a:xfrm>
          <a:prstGeom prst="ellipse">
            <a:avLst/>
          </a:prstGeom>
          <a:solidFill>
            <a:srgbClr val="00316B"/>
          </a:solidFill>
          <a:ln w="3810">
            <a:solidFill>
              <a:srgbClr val="003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694944"/>
            <a:ext cx="292608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16168" y="676656"/>
            <a:ext cx="1627632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ATC 编译与优化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65592" y="685800"/>
            <a:ext cx="292608" cy="292608"/>
          </a:xfrm>
          <a:prstGeom prst="ellipse">
            <a:avLst/>
          </a:prstGeom>
          <a:solidFill>
            <a:srgbClr val="00316B"/>
          </a:solidFill>
          <a:ln w="3810">
            <a:solidFill>
              <a:srgbClr val="0031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694944"/>
            <a:ext cx="292608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4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49640" y="676910"/>
            <a:ext cx="1786255" cy="31115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 OM 模型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863072" y="685800"/>
            <a:ext cx="292608" cy="292608"/>
          </a:xfrm>
          <a:prstGeom prst="ellipse">
            <a:avLst/>
          </a:prstGeom>
          <a:solidFill>
            <a:srgbClr val="00316B"/>
          </a:solidFill>
          <a:ln w="3810">
            <a:solidFill>
              <a:srgbClr val="0031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63072" y="694944"/>
            <a:ext cx="292608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5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47120" y="676656"/>
            <a:ext cx="1609344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NPU 推理（板端）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523976" y="685800"/>
            <a:ext cx="292608" cy="292608"/>
          </a:xfrm>
          <a:prstGeom prst="ellipse">
            <a:avLst/>
          </a:prstGeom>
          <a:solidFill>
            <a:srgbClr val="00316B"/>
          </a:solidFill>
          <a:ln w="3810">
            <a:solidFill>
              <a:srgbClr val="0031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23976" y="694944"/>
            <a:ext cx="292608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6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908024" y="676656"/>
            <a:ext cx="1627632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后处理（板端 CPU）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468880" y="3154680"/>
            <a:ext cx="310896" cy="237744"/>
          </a:xfrm>
          <a:prstGeom prst="rightArrow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41829" y="2950972"/>
            <a:ext cx="292608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</a:t>
            </a:r>
            <a:endParaRPr lang="en-US" sz="920" b="1" dirty="0">
              <a:solidFill>
                <a:srgbClr val="10182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99305" y="3154680"/>
            <a:ext cx="310896" cy="237744"/>
          </a:xfrm>
          <a:prstGeom prst="rightArrow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559" y="2963037"/>
            <a:ext cx="292608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920" b="1" dirty="0">
              <a:solidFill>
                <a:srgbClr val="10182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54112" y="3154680"/>
            <a:ext cx="310896" cy="237744"/>
          </a:xfrm>
          <a:prstGeom prst="rightArrow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08392" y="2816352"/>
            <a:ext cx="292608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生成</a:t>
            </a:r>
            <a:endParaRPr lang="en-US" sz="82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186416" y="3154680"/>
            <a:ext cx="310896" cy="237744"/>
          </a:xfrm>
          <a:prstGeom prst="rightArrow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938760" y="3154680"/>
            <a:ext cx="310896" cy="237744"/>
          </a:xfrm>
          <a:prstGeom prst="rightArrow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" y="1115568"/>
            <a:ext cx="2322576" cy="4773168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173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1261872"/>
            <a:ext cx="178308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 检测模型（示例）</a:t>
            </a:r>
            <a:endParaRPr lang="en-US" sz="103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hape 36"/>
          <p:cNvSpPr/>
          <p:nvPr/>
        </p:nvSpPr>
        <p:spPr>
          <a:xfrm flipH="1">
            <a:off x="1275080" y="1965960"/>
            <a:ext cx="5080" cy="338455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1278255" y="2642870"/>
            <a:ext cx="1905" cy="307975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 rot="5220000">
            <a:off x="963295" y="3401695"/>
            <a:ext cx="404495" cy="259080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80160" y="3328670"/>
            <a:ext cx="261620" cy="401955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280160" y="3328670"/>
            <a:ext cx="814070" cy="405130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93776" y="1627632"/>
            <a:ext cx="1527048" cy="365760"/>
          </a:xfrm>
          <a:prstGeom prst="roundRect">
            <a:avLst>
              <a:gd name="adj" fmla="val 15000"/>
            </a:avLst>
          </a:prstGeom>
          <a:solidFill>
            <a:srgbClr val="E8F5F2"/>
          </a:solidFill>
          <a:ln w="8255">
            <a:solidFill>
              <a:srgbClr val="3D6B7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" y="1645920"/>
            <a:ext cx="1527048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Backbone</a:t>
            </a:r>
            <a:endParaRPr lang="en-US" sz="12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93776" y="2304288"/>
            <a:ext cx="1527048" cy="365760"/>
          </a:xfrm>
          <a:prstGeom prst="roundRect">
            <a:avLst>
              <a:gd name="adj" fmla="val 15000"/>
            </a:avLst>
          </a:prstGeom>
          <a:solidFill>
            <a:srgbClr val="EAF2FD"/>
          </a:solidFill>
          <a:ln w="8255">
            <a:solidFill>
              <a:srgbClr val="173D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" y="2322576"/>
            <a:ext cx="1527048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Neck</a:t>
            </a:r>
            <a:endParaRPr lang="en-US" sz="12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" y="2962656"/>
            <a:ext cx="1527048" cy="365760"/>
          </a:xfrm>
          <a:prstGeom prst="roundRect">
            <a:avLst>
              <a:gd name="adj" fmla="val 15000"/>
            </a:avLst>
          </a:prstGeom>
          <a:solidFill>
            <a:srgbClr val="FFF7D8"/>
          </a:solidFill>
          <a:ln w="8255">
            <a:solidFill>
              <a:srgbClr val="D9A6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" y="2980944"/>
            <a:ext cx="1527048" cy="3108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Detect Head</a:t>
            </a:r>
            <a:endParaRPr lang="en-US" sz="12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19456" y="3584448"/>
            <a:ext cx="2157984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1430">
            <a:solidFill>
              <a:srgbClr val="D9A61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3464" y="3739896"/>
            <a:ext cx="438912" cy="310896"/>
          </a:xfrm>
          <a:prstGeom prst="roundRect">
            <a:avLst>
              <a:gd name="adj" fmla="val 17647"/>
            </a:avLst>
          </a:prstGeom>
          <a:solidFill>
            <a:srgbClr val="EEF8EF"/>
          </a:solidFill>
          <a:ln w="7620">
            <a:solidFill>
              <a:srgbClr val="4F8A6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" y="3749040"/>
            <a:ext cx="438912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DecBBox</a:t>
            </a:r>
            <a:endParaRPr lang="en-US" sz="830" b="1" dirty="0">
              <a:solidFill>
                <a:srgbClr val="10182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22376" y="3895344"/>
            <a:ext cx="73152" cy="0"/>
          </a:xfrm>
          <a:prstGeom prst="line">
            <a:avLst/>
          </a:prstGeom>
          <a:noFill/>
          <a:ln w="698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95528" y="3739896"/>
            <a:ext cx="438912" cy="310896"/>
          </a:xfrm>
          <a:prstGeom prst="roundRect">
            <a:avLst>
              <a:gd name="adj" fmla="val 17647"/>
            </a:avLst>
          </a:prstGeom>
          <a:solidFill>
            <a:srgbClr val="EEF8EF"/>
          </a:solidFill>
          <a:ln w="7620">
            <a:solidFill>
              <a:srgbClr val="4F8A6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" y="3749040"/>
            <a:ext cx="438912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Filter</a:t>
            </a:r>
            <a:endParaRPr lang="en-US" sz="930" b="1" dirty="0">
              <a:solidFill>
                <a:srgbClr val="10182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234440" y="3895344"/>
            <a:ext cx="73152" cy="0"/>
          </a:xfrm>
          <a:prstGeom prst="line">
            <a:avLst/>
          </a:prstGeom>
          <a:noFill/>
          <a:ln w="698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307592" y="3739896"/>
            <a:ext cx="438912" cy="310896"/>
          </a:xfrm>
          <a:prstGeom prst="roundRect">
            <a:avLst>
              <a:gd name="adj" fmla="val 17647"/>
            </a:avLst>
          </a:prstGeom>
          <a:solidFill>
            <a:srgbClr val="EEF8EF"/>
          </a:solidFill>
          <a:ln w="7620">
            <a:solidFill>
              <a:srgbClr val="4F8A6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07592" y="3749040"/>
            <a:ext cx="438912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Sort</a:t>
            </a:r>
            <a:endParaRPr lang="en-US" sz="930" b="1" dirty="0">
              <a:solidFill>
                <a:srgbClr val="10182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746504" y="3895344"/>
            <a:ext cx="73152" cy="0"/>
          </a:xfrm>
          <a:prstGeom prst="line">
            <a:avLst/>
          </a:prstGeom>
          <a:noFill/>
          <a:ln w="698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1819656" y="3739896"/>
            <a:ext cx="438912" cy="310896"/>
          </a:xfrm>
          <a:prstGeom prst="roundRect">
            <a:avLst>
              <a:gd name="adj" fmla="val 17647"/>
            </a:avLst>
          </a:prstGeom>
          <a:solidFill>
            <a:srgbClr val="EEF8EF"/>
          </a:solidFill>
          <a:ln w="7620">
            <a:solidFill>
              <a:srgbClr val="4F8A6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19656" y="3749040"/>
            <a:ext cx="438912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NMS</a:t>
            </a:r>
            <a:endParaRPr lang="en-US" sz="930" b="1" dirty="0">
              <a:solidFill>
                <a:srgbClr val="10182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11480" y="4443984"/>
            <a:ext cx="1792224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任务：行人与电动车检测</a:t>
            </a:r>
            <a:endParaRPr lang="en-US" sz="104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104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类别数：C = 2</a:t>
            </a:r>
            <a:endParaRPr lang="en-US" sz="104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84175" y="4974336"/>
            <a:ext cx="1764792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" y="5038344"/>
            <a:ext cx="1627632" cy="6400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类别索引一致性：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0: person（行人）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 ebike（电动车）</a:t>
            </a:r>
            <a:endParaRPr lang="en-US" sz="12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761488" y="1152144"/>
            <a:ext cx="1627632" cy="473659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173D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72384" y="1380744"/>
            <a:ext cx="1042416" cy="27432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模型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145536" y="1984248"/>
            <a:ext cx="841248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输入张量</a:t>
            </a:r>
            <a:endParaRPr lang="en-US" sz="12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953512" y="2267712"/>
            <a:ext cx="1243584" cy="438912"/>
          </a:xfrm>
          <a:prstGeom prst="roundRect">
            <a:avLst>
              <a:gd name="adj" fmla="val 12500"/>
            </a:avLst>
          </a:prstGeom>
          <a:solidFill>
            <a:srgbClr val="EAF2FD"/>
          </a:solidFill>
          <a:ln w="8255">
            <a:solidFill>
              <a:srgbClr val="173D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2340610"/>
            <a:ext cx="1180465" cy="20129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18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x ∈ R¹×³×H×W</a:t>
            </a:r>
            <a:endParaRPr lang="en-US" sz="1400" i="1" dirty="0">
              <a:solidFill>
                <a:srgbClr val="10182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575304" y="2715768"/>
            <a:ext cx="0" cy="905256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3017393" y="3757930"/>
            <a:ext cx="667512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输出张量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3520313" y="3785997"/>
            <a:ext cx="786384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BB33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（定制后处理输出）</a:t>
            </a:r>
            <a:endParaRPr lang="en-US" sz="760" b="1" dirty="0">
              <a:solidFill>
                <a:srgbClr val="BB33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907792" y="3986784"/>
            <a:ext cx="1298448" cy="438912"/>
          </a:xfrm>
          <a:prstGeom prst="roundRect">
            <a:avLst>
              <a:gd name="adj" fmla="val 12500"/>
            </a:avLst>
          </a:prstGeom>
          <a:solidFill>
            <a:srgbClr val="FDEDED"/>
          </a:solidFill>
          <a:ln w="8255">
            <a:solidFill>
              <a:srgbClr val="A94D4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07792" y="4050792"/>
            <a:ext cx="1298448" cy="23774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01820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count + ROI[6]</a:t>
            </a:r>
            <a:endParaRPr lang="en-US" sz="1200" i="1" dirty="0">
              <a:solidFill>
                <a:srgbClr val="101820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834640" y="4718304"/>
            <a:ext cx="1472184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89504" y="4764024"/>
            <a:ext cx="1371600" cy="941832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含义：</a:t>
            </a:r>
            <a:endParaRPr lang="en-US" sz="86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count：检测数量（标量）</a:t>
            </a:r>
            <a:endParaRPr lang="en-US" sz="86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ROI：候选矩形框数据</a:t>
            </a:r>
            <a:endParaRPr lang="en-US" sz="86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 ∈ R⁶×K</a:t>
            </a:r>
            <a:endParaRPr lang="en-US" sz="86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= x₁, y₁, x₂, y₂, score, class</a:t>
            </a:r>
            <a:endParaRPr lang="en-US" sz="86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86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K：最大候选数（固定上限）</a:t>
            </a:r>
            <a:endParaRPr lang="en-US" sz="86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992624" y="1152144"/>
            <a:ext cx="2660904" cy="475488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173D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36792" y="1965960"/>
            <a:ext cx="0" cy="237012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5157216" y="1399032"/>
            <a:ext cx="2359152" cy="566928"/>
          </a:xfrm>
          <a:prstGeom prst="roundRect">
            <a:avLst>
              <a:gd name="adj" fmla="val 9677"/>
            </a:avLst>
          </a:prstGeom>
          <a:solidFill>
            <a:srgbClr val="EAF2FD"/>
          </a:solidFill>
          <a:ln w="8255">
            <a:solidFill>
              <a:srgbClr val="173D6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03520" y="1536192"/>
            <a:ext cx="256032" cy="87051"/>
          </a:xfrm>
          <a:prstGeom prst="ellipse">
            <a:avLst/>
          </a:prstGeom>
          <a:solidFill>
            <a:srgbClr val="EAF2FD"/>
          </a:solidFill>
          <a:ln w="11430">
            <a:solidFill>
              <a:srgbClr val="173D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303520" y="1579717"/>
            <a:ext cx="256032" cy="163860"/>
          </a:xfrm>
          <a:prstGeom prst="rect">
            <a:avLst/>
          </a:prstGeom>
          <a:solidFill>
            <a:srgbClr val="EAF2FD"/>
          </a:solidFill>
          <a:ln w="11430">
            <a:solidFill>
              <a:srgbClr val="173D6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03520" y="1702613"/>
            <a:ext cx="256032" cy="87051"/>
          </a:xfrm>
          <a:prstGeom prst="ellipse">
            <a:avLst/>
          </a:prstGeom>
          <a:solidFill>
            <a:srgbClr val="EAF2FD"/>
          </a:solidFill>
          <a:ln w="11430">
            <a:solidFill>
              <a:srgbClr val="173D6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03520" y="1636044"/>
            <a:ext cx="256032" cy="0"/>
          </a:xfrm>
          <a:prstGeom prst="line">
            <a:avLst/>
          </a:prstGeom>
          <a:noFill/>
          <a:ln w="10160">
            <a:solidFill>
              <a:srgbClr val="173D6B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5303520" y="1689811"/>
            <a:ext cx="256032" cy="0"/>
          </a:xfrm>
          <a:prstGeom prst="line">
            <a:avLst/>
          </a:prstGeom>
          <a:noFill/>
          <a:ln w="10160">
            <a:solidFill>
              <a:srgbClr val="173D6B"/>
            </a:solidFill>
            <a:prstDash val="solid"/>
            <a:headEnd type="none"/>
            <a:tailEnd type="none"/>
          </a:ln>
        </p:spPr>
      </p:sp>
      <p:sp>
        <p:nvSpPr>
          <p:cNvPr id="85" name="Text 83"/>
          <p:cNvSpPr/>
          <p:nvPr/>
        </p:nvSpPr>
        <p:spPr>
          <a:xfrm>
            <a:off x="5833872" y="1508760"/>
            <a:ext cx="1600200" cy="1920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图转换与合法性检查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5833872" y="1728216"/>
            <a:ext cx="16002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40" i="1" dirty="0">
                <a:solidFill>
                  <a:srgbClr val="101820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ONNX → Ascend IR</a:t>
            </a:r>
            <a:endParaRPr lang="en-US" sz="1040" i="1" dirty="0">
              <a:solidFill>
                <a:srgbClr val="101820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6336792" y="2862072"/>
            <a:ext cx="0" cy="237012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5157216" y="2295144"/>
            <a:ext cx="2359152" cy="566928"/>
          </a:xfrm>
          <a:prstGeom prst="roundRect">
            <a:avLst>
              <a:gd name="adj" fmla="val 9677"/>
            </a:avLst>
          </a:prstGeom>
          <a:solidFill>
            <a:srgbClr val="EEF8EF"/>
          </a:solidFill>
          <a:ln w="8255">
            <a:solidFill>
              <a:srgbClr val="4F8A6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400000">
            <a:off x="5303520" y="2432304"/>
            <a:ext cx="256032" cy="256032"/>
          </a:xfrm>
          <a:prstGeom prst="hexagon">
            <a:avLst/>
          </a:prstGeom>
          <a:solidFill>
            <a:srgbClr val="D9F0E4"/>
          </a:solidFill>
          <a:ln w="13970">
            <a:solidFill>
              <a:srgbClr val="1D674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31536" y="2445106"/>
            <a:ext cx="0" cy="230429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5318882" y="2524476"/>
            <a:ext cx="112654" cy="48646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5431536" y="2524476"/>
            <a:ext cx="112654" cy="48646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3" name="Text 91"/>
          <p:cNvSpPr/>
          <p:nvPr/>
        </p:nvSpPr>
        <p:spPr>
          <a:xfrm>
            <a:off x="5833872" y="2404872"/>
            <a:ext cx="1600200" cy="1920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定制算子映射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5833872" y="2624328"/>
            <a:ext cx="16002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40" i="1" dirty="0">
                <a:solidFill>
                  <a:srgbClr val="101820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DecBBox / Filter / Sort / NMS</a:t>
            </a:r>
            <a:endParaRPr lang="en-US" sz="1040" i="1" dirty="0">
              <a:solidFill>
                <a:srgbClr val="101820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6336792" y="3758184"/>
            <a:ext cx="0" cy="237012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5157216" y="3191256"/>
            <a:ext cx="2359152" cy="566928"/>
          </a:xfrm>
          <a:prstGeom prst="roundRect">
            <a:avLst>
              <a:gd name="adj" fmla="val 9677"/>
            </a:avLst>
          </a:prstGeom>
          <a:solidFill>
            <a:srgbClr val="FFF7D8"/>
          </a:solidFill>
          <a:ln w="8255">
            <a:solidFill>
              <a:srgbClr val="D9A61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303520" y="3328416"/>
            <a:ext cx="256032" cy="256032"/>
          </a:xfrm>
          <a:prstGeom prst="gear6">
            <a:avLst/>
          </a:prstGeom>
          <a:solidFill>
            <a:srgbClr val="A77800"/>
          </a:solidFill>
          <a:ln w="2540">
            <a:solidFill>
              <a:srgbClr val="A778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393131" y="3418027"/>
            <a:ext cx="76810" cy="76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833872" y="3300984"/>
            <a:ext cx="1600200" cy="1920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AIPP 插入与图优化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5833872" y="3520440"/>
            <a:ext cx="16002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格式转换、算子融合、常量折叠等</a:t>
            </a:r>
            <a:endParaRPr lang="en-US" sz="94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6336792" y="4654296"/>
            <a:ext cx="0" cy="237012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5157216" y="4087368"/>
            <a:ext cx="2359152" cy="566928"/>
          </a:xfrm>
          <a:prstGeom prst="roundRect">
            <a:avLst>
              <a:gd name="adj" fmla="val 9677"/>
            </a:avLst>
          </a:prstGeom>
          <a:solidFill>
            <a:srgbClr val="F4ECFA"/>
          </a:solidFill>
          <a:ln w="8255">
            <a:solidFill>
              <a:srgbClr val="7A559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352166" y="4273174"/>
            <a:ext cx="158740" cy="158740"/>
          </a:xfrm>
          <a:prstGeom prst="roundRect">
            <a:avLst>
              <a:gd name="adj" fmla="val 17281"/>
            </a:avLst>
          </a:prstGeom>
          <a:solidFill>
            <a:srgbClr val="00316B"/>
          </a:solidFill>
          <a:ln w="2540">
            <a:solidFill>
              <a:srgbClr val="00316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88011" y="4309019"/>
            <a:ext cx="87051" cy="87051"/>
          </a:xfrm>
          <a:prstGeom prst="rect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359847" y="4224528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359847" y="4449836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303520" y="4280855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528828" y="4280855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395692" y="4224528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95692" y="4449836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03520" y="4316700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28828" y="4316700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31536" y="4224528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31536" y="4449836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03520" y="4352544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8828" y="4352544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467380" y="4224528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467380" y="4449836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03520" y="4388388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28828" y="4388388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03225" y="4224528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503225" y="4449836"/>
            <a:ext cx="12802" cy="30724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303520" y="4424233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28828" y="4424233"/>
            <a:ext cx="30724" cy="12802"/>
          </a:xfrm>
          <a:prstGeom prst="rect">
            <a:avLst/>
          </a:prstGeom>
          <a:solidFill>
            <a:srgbClr val="00316B"/>
          </a:solidFill>
          <a:ln w="12700">
            <a:solidFill>
              <a:srgbClr val="00316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833872" y="4197096"/>
            <a:ext cx="1600200" cy="1920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设备适配与映射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5833872" y="4416552"/>
            <a:ext cx="16002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算子映射、精度适配、内存优化</a:t>
            </a:r>
            <a:endParaRPr lang="en-US" sz="94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5157216" y="4983480"/>
            <a:ext cx="2359152" cy="566928"/>
          </a:xfrm>
          <a:prstGeom prst="roundRect">
            <a:avLst>
              <a:gd name="adj" fmla="val 9677"/>
            </a:avLst>
          </a:prstGeom>
          <a:solidFill>
            <a:srgbClr val="EAF2FD"/>
          </a:solidFill>
          <a:ln w="8255">
            <a:solidFill>
              <a:srgbClr val="5A8DD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3000000">
            <a:off x="5357287" y="5151364"/>
            <a:ext cx="94732" cy="199705"/>
          </a:xfrm>
          <a:prstGeom prst="line">
            <a:avLst/>
          </a:prstGeom>
          <a:noFill/>
          <a:ln w="11430">
            <a:solidFill>
              <a:srgbClr val="101820"/>
            </a:solidFill>
            <a:prstDash val="solid"/>
            <a:headEnd type="none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5452019" y="5151364"/>
            <a:ext cx="94732" cy="199705"/>
          </a:xfrm>
          <a:prstGeom prst="line">
            <a:avLst/>
          </a:prstGeom>
          <a:noFill/>
          <a:ln w="11430">
            <a:solidFill>
              <a:srgbClr val="101820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5357287" y="5351069"/>
            <a:ext cx="189464" cy="0"/>
          </a:xfrm>
          <a:prstGeom prst="line">
            <a:avLst/>
          </a:prstGeom>
          <a:noFill/>
          <a:ln w="11430">
            <a:solidFill>
              <a:srgbClr val="101820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5431536" y="5130881"/>
            <a:ext cx="40965" cy="4096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182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36804" y="5330586"/>
            <a:ext cx="40965" cy="4096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182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526268" y="5330586"/>
            <a:ext cx="40965" cy="40965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182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833872" y="5093208"/>
            <a:ext cx="1600200" cy="1920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资源与性能优化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5833872" y="5312664"/>
            <a:ext cx="16002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内存规划、并行优化、算子选择</a:t>
            </a:r>
            <a:endParaRPr lang="en-US" sz="94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8138160" y="1152144"/>
            <a:ext cx="2029968" cy="4754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173D6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412480" y="1380744"/>
            <a:ext cx="1554480" cy="23774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 模型文件（.om）</a:t>
            </a:r>
            <a:endParaRPr lang="en-US" sz="14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8275320" y="1792224"/>
            <a:ext cx="1755648" cy="1353312"/>
          </a:xfrm>
          <a:prstGeom prst="roundRect">
            <a:avLst>
              <a:gd name="adj" fmla="val 4054"/>
            </a:avLst>
          </a:prstGeom>
          <a:solidFill>
            <a:srgbClr val="F7F8FB"/>
          </a:solidFill>
          <a:ln w="8255">
            <a:solidFill>
              <a:srgbClr val="8C96A3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586216" y="1938528"/>
            <a:ext cx="1115568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计算图（Graph）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8439912" y="2276856"/>
            <a:ext cx="256032" cy="219456"/>
          </a:xfrm>
          <a:prstGeom prst="rect">
            <a:avLst/>
          </a:prstGeom>
          <a:solidFill>
            <a:srgbClr val="E6E6EA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997696" y="2276856"/>
            <a:ext cx="256032" cy="219456"/>
          </a:xfrm>
          <a:prstGeom prst="rect">
            <a:avLst/>
          </a:prstGeom>
          <a:solidFill>
            <a:srgbClr val="E6E6EA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439912" y="2679192"/>
            <a:ext cx="256032" cy="219456"/>
          </a:xfrm>
          <a:prstGeom prst="rect">
            <a:avLst/>
          </a:prstGeom>
          <a:solidFill>
            <a:srgbClr val="E6E6EA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997696" y="2679192"/>
            <a:ext cx="256032" cy="219456"/>
          </a:xfrm>
          <a:prstGeom prst="rect">
            <a:avLst/>
          </a:prstGeom>
          <a:solidFill>
            <a:srgbClr val="E6E6EA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573768" y="2679192"/>
            <a:ext cx="256032" cy="219456"/>
          </a:xfrm>
          <a:prstGeom prst="rect">
            <a:avLst/>
          </a:prstGeom>
          <a:solidFill>
            <a:srgbClr val="E6E6EA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695944" y="2386584"/>
            <a:ext cx="301752" cy="0"/>
          </a:xfrm>
          <a:prstGeom prst="line">
            <a:avLst/>
          </a:prstGeom>
          <a:noFill/>
          <a:ln w="698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146" name="Shape 144"/>
          <p:cNvSpPr/>
          <p:nvPr/>
        </p:nvSpPr>
        <p:spPr>
          <a:xfrm>
            <a:off x="8567928" y="2496312"/>
            <a:ext cx="0" cy="182880"/>
          </a:xfrm>
          <a:prstGeom prst="line">
            <a:avLst/>
          </a:prstGeom>
          <a:noFill/>
          <a:ln w="698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147" name="Shape 145"/>
          <p:cNvSpPr/>
          <p:nvPr/>
        </p:nvSpPr>
        <p:spPr>
          <a:xfrm>
            <a:off x="9125712" y="2496312"/>
            <a:ext cx="0" cy="182880"/>
          </a:xfrm>
          <a:prstGeom prst="line">
            <a:avLst/>
          </a:prstGeom>
          <a:noFill/>
          <a:ln w="698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148" name="Shape 146"/>
          <p:cNvSpPr/>
          <p:nvPr/>
        </p:nvSpPr>
        <p:spPr>
          <a:xfrm>
            <a:off x="9253728" y="2788920"/>
            <a:ext cx="320040" cy="0"/>
          </a:xfrm>
          <a:prstGeom prst="line">
            <a:avLst/>
          </a:prstGeom>
          <a:noFill/>
          <a:ln w="698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149" name="Text 147"/>
          <p:cNvSpPr/>
          <p:nvPr/>
        </p:nvSpPr>
        <p:spPr>
          <a:xfrm>
            <a:off x="9848088" y="2212848"/>
            <a:ext cx="182880" cy="128016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…</a:t>
            </a:r>
            <a:endParaRPr lang="en-US" sz="8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8275320" y="3145536"/>
            <a:ext cx="1755648" cy="978408"/>
          </a:xfrm>
          <a:prstGeom prst="roundRect">
            <a:avLst>
              <a:gd name="adj" fmla="val 5607"/>
            </a:avLst>
          </a:prstGeom>
          <a:solidFill>
            <a:srgbClr val="F7F8FB"/>
          </a:solidFill>
          <a:ln w="8255">
            <a:solidFill>
              <a:srgbClr val="8C96A3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613648" y="3273552"/>
            <a:ext cx="100584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权重（Weights）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8439912" y="3547872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40496" y="3547872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41080" y="3547872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39912" y="3648456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40496" y="3648456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41080" y="3648456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439912" y="3749040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540496" y="3749040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641080" y="3749040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8869680" y="3593592"/>
            <a:ext cx="274320" cy="13716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…</a:t>
            </a:r>
            <a:endParaRPr lang="en-US" sz="9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9198864" y="3547872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299448" y="3547872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400032" y="3547872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198864" y="3648456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299448" y="3648456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00032" y="3648456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198864" y="3749040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299448" y="3749040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400032" y="3749040"/>
            <a:ext cx="91440" cy="91440"/>
          </a:xfrm>
          <a:prstGeom prst="rect">
            <a:avLst/>
          </a:prstGeom>
          <a:solidFill>
            <a:srgbClr val="DCE6F5"/>
          </a:solidFill>
          <a:ln w="5715">
            <a:solidFill>
              <a:srgbClr val="8C96A3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637776" y="3593592"/>
            <a:ext cx="274320" cy="13716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…</a:t>
            </a:r>
            <a:endParaRPr lang="en-US" sz="9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8275320" y="4133088"/>
            <a:ext cx="1755648" cy="1600200"/>
          </a:xfrm>
          <a:prstGeom prst="roundRect">
            <a:avLst>
              <a:gd name="adj" fmla="val 3429"/>
            </a:avLst>
          </a:prstGeom>
          <a:solidFill>
            <a:srgbClr val="F7F8FB"/>
          </a:solidFill>
          <a:ln w="8255">
            <a:solidFill>
              <a:srgbClr val="8C96A3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549640" y="4251960"/>
            <a:ext cx="1170432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元数据（Metadata）</a:t>
            </a:r>
            <a:endParaRPr lang="en-US" sz="10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Shape 173"/>
          <p:cNvSpPr/>
          <p:nvPr/>
        </p:nvSpPr>
        <p:spPr>
          <a:xfrm>
            <a:off x="10461117" y="1180084"/>
            <a:ext cx="2350008" cy="4526280"/>
          </a:xfrm>
          <a:prstGeom prst="roundRect">
            <a:avLst>
              <a:gd name="adj" fmla="val 2335"/>
            </a:avLst>
          </a:prstGeom>
          <a:solidFill>
            <a:srgbClr val="FFFFFF"/>
          </a:solidFill>
          <a:ln w="9525">
            <a:solidFill>
              <a:srgbClr val="4F8A6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1018520" y="1353185"/>
            <a:ext cx="1657350" cy="20129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输入张量（来自 DDR）</a:t>
            </a:r>
            <a:endParaRPr lang="en-US" sz="12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10972800" y="1609344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F8EF"/>
          </a:solidFill>
          <a:ln w="8255">
            <a:solidFill>
              <a:srgbClr val="4F8A6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1119104" y="1682496"/>
            <a:ext cx="1280160" cy="173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i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∈ R¹×³×H×W</a:t>
            </a:r>
            <a:endParaRPr lang="en-US" sz="1030" i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11750040" y="1993392"/>
            <a:ext cx="0" cy="182880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10753090" y="2175891"/>
            <a:ext cx="1938528" cy="2359152"/>
          </a:xfrm>
          <a:prstGeom prst="roundRect">
            <a:avLst>
              <a:gd name="adj" fmla="val 2358"/>
            </a:avLst>
          </a:prstGeom>
          <a:solidFill>
            <a:srgbClr val="FFFFFF">
              <a:alpha val="0"/>
            </a:srgbClr>
          </a:solidFill>
          <a:ln w="9525">
            <a:solidFill>
              <a:srgbClr val="8C96A3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1256264" y="2304288"/>
            <a:ext cx="91440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NPU 计算</a:t>
            </a:r>
            <a:endParaRPr lang="en-US" sz="98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10999978" y="2573020"/>
            <a:ext cx="1499616" cy="1481328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8255">
            <a:solidFill>
              <a:srgbClr val="8C96A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1164697" y="2651506"/>
            <a:ext cx="100584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NPU Core 阵列</a:t>
            </a:r>
            <a:endParaRPr lang="en-US" sz="78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Shape 182"/>
          <p:cNvSpPr/>
          <p:nvPr/>
        </p:nvSpPr>
        <p:spPr>
          <a:xfrm>
            <a:off x="11238230" y="2942717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357102" y="2942717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475974" y="2942717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594846" y="2942717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713718" y="2942717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32590" y="2942717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951462" y="2942717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2070334" y="2942717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238230" y="3061589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357102" y="3061589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1475974" y="3061589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1594846" y="3061589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1713718" y="3061589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1832590" y="3061589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1951462" y="3061589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2070334" y="3061589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1238230" y="3180461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1357102" y="3180461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1475974" y="3180461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1594846" y="3180461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1713718" y="3180461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1832590" y="3180461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1951462" y="3180461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2070334" y="3180461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1238230" y="3299333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357102" y="3299333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1475974" y="3299333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1594846" y="3299333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1713718" y="3299333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1832590" y="3299333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951462" y="3299333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2070334" y="3299333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238230" y="3418205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1357102" y="3418205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475974" y="3418205"/>
            <a:ext cx="82296" cy="82296"/>
          </a:xfrm>
          <a:prstGeom prst="rect">
            <a:avLst/>
          </a:prstGeom>
          <a:solidFill>
            <a:srgbClr val="2E8B57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594846" y="3418205"/>
            <a:ext cx="82296" cy="82296"/>
          </a:xfrm>
          <a:prstGeom prst="rect">
            <a:avLst/>
          </a:prstGeom>
          <a:solidFill>
            <a:srgbClr val="2E8B57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713718" y="3418205"/>
            <a:ext cx="82296" cy="82296"/>
          </a:xfrm>
          <a:prstGeom prst="rect">
            <a:avLst/>
          </a:prstGeom>
          <a:solidFill>
            <a:srgbClr val="2E8B57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832590" y="3418205"/>
            <a:ext cx="82296" cy="82296"/>
          </a:xfrm>
          <a:prstGeom prst="rect">
            <a:avLst/>
          </a:prstGeom>
          <a:solidFill>
            <a:srgbClr val="2E8B57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951462" y="3418205"/>
            <a:ext cx="82296" cy="82296"/>
          </a:xfrm>
          <a:prstGeom prst="rect">
            <a:avLst/>
          </a:prstGeom>
          <a:solidFill>
            <a:srgbClr val="84B99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2070334" y="3418205"/>
            <a:ext cx="82296" cy="82296"/>
          </a:xfrm>
          <a:prstGeom prst="rect">
            <a:avLst/>
          </a:prstGeom>
          <a:solidFill>
            <a:srgbClr val="E2E8F0"/>
          </a:solidFill>
          <a:ln w="3175">
            <a:solidFill>
              <a:srgbClr val="6D7C87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1686032" y="3547872"/>
            <a:ext cx="164592" cy="10972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…</a:t>
            </a:r>
            <a:endParaRPr lang="en-US" sz="7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25" name="Shape 223"/>
          <p:cNvSpPr/>
          <p:nvPr/>
        </p:nvSpPr>
        <p:spPr>
          <a:xfrm>
            <a:off x="11099546" y="3712337"/>
            <a:ext cx="1271016" cy="274320"/>
          </a:xfrm>
          <a:prstGeom prst="roundRect">
            <a:avLst>
              <a:gd name="adj" fmla="val 20000"/>
            </a:avLst>
          </a:prstGeom>
          <a:solidFill>
            <a:srgbClr val="EAF2FD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1127486" y="3740404"/>
            <a:ext cx="1271016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片上缓存 / SRAM</a:t>
            </a:r>
            <a:endParaRPr lang="en-US" sz="97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7" name="Shape 225"/>
          <p:cNvSpPr/>
          <p:nvPr/>
        </p:nvSpPr>
        <p:spPr>
          <a:xfrm>
            <a:off x="11750040" y="4544568"/>
            <a:ext cx="0" cy="182880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228" name="Text 226"/>
          <p:cNvSpPr/>
          <p:nvPr/>
        </p:nvSpPr>
        <p:spPr>
          <a:xfrm>
            <a:off x="11000232" y="4718304"/>
            <a:ext cx="150876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输出张量（写回 DDR）</a:t>
            </a:r>
            <a:endParaRPr lang="en-US" sz="101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9" name="Shape 227"/>
          <p:cNvSpPr/>
          <p:nvPr/>
        </p:nvSpPr>
        <p:spPr>
          <a:xfrm>
            <a:off x="10808208" y="4965192"/>
            <a:ext cx="1883664" cy="658368"/>
          </a:xfrm>
          <a:prstGeom prst="roundRect">
            <a:avLst>
              <a:gd name="adj" fmla="val 8333"/>
            </a:avLst>
          </a:prstGeom>
          <a:solidFill>
            <a:srgbClr val="FDEDED"/>
          </a:solidFill>
          <a:ln w="8255">
            <a:solidFill>
              <a:srgbClr val="A94D4D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0936224" y="5029200"/>
            <a:ext cx="1627632" cy="53035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 ∈ R¹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50" i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 ∈ R⁶×K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50" i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= x₁, y₁, x₂, y₂, score, class</a:t>
            </a:r>
            <a:endParaRPr lang="en-US" sz="1050" i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10863072" y="5760720"/>
            <a:ext cx="16916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6B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推理设备：</a:t>
            </a:r>
            <a:r>
              <a:rPr lang="zh-CN" altLang="en-US" sz="900" b="1" dirty="0">
                <a:solidFill>
                  <a:srgbClr val="2A6B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海思</a:t>
            </a:r>
            <a:r>
              <a:rPr lang="en-US" altLang="zh-CN" sz="900" b="1" dirty="0">
                <a:solidFill>
                  <a:srgbClr val="2A6B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en-US" sz="900" b="1" dirty="0">
                <a:solidFill>
                  <a:srgbClr val="2A6B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昇腾 NPU</a:t>
            </a:r>
            <a:endParaRPr lang="en-US" sz="900" b="1" dirty="0">
              <a:solidFill>
                <a:srgbClr val="2A6B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2" name="Shape 230"/>
          <p:cNvSpPr/>
          <p:nvPr/>
        </p:nvSpPr>
        <p:spPr>
          <a:xfrm>
            <a:off x="13268452" y="1261999"/>
            <a:ext cx="2267712" cy="452628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4F8A65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3569696" y="1389888"/>
            <a:ext cx="1783080" cy="1920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 解析与坐标映射</a:t>
            </a:r>
            <a:endParaRPr lang="en-US" sz="12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Shape 232"/>
          <p:cNvSpPr/>
          <p:nvPr/>
        </p:nvSpPr>
        <p:spPr>
          <a:xfrm>
            <a:off x="13496544" y="1618488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8255">
            <a:solidFill>
              <a:srgbClr val="8C96A3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13542264" y="1673352"/>
            <a:ext cx="1828800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x₁, y₁, x₂, y₂ 从模型输入尺度</a:t>
            </a:r>
            <a:endParaRPr lang="en-US" sz="9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8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映射到显示帧坐标</a:t>
            </a:r>
            <a:endParaRPr lang="en-US" sz="98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14456664" y="2130552"/>
            <a:ext cx="0" cy="228600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237" name="Text 235"/>
          <p:cNvSpPr/>
          <p:nvPr/>
        </p:nvSpPr>
        <p:spPr>
          <a:xfrm>
            <a:off x="13962888" y="2377440"/>
            <a:ext cx="987552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置信度筛选</a:t>
            </a:r>
            <a:endParaRPr lang="en-US" sz="12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8" name="Shape 236"/>
          <p:cNvSpPr/>
          <p:nvPr/>
        </p:nvSpPr>
        <p:spPr>
          <a:xfrm>
            <a:off x="13496544" y="263347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EEF8EF"/>
          </a:solidFill>
          <a:ln w="8255">
            <a:solidFill>
              <a:srgbClr val="4F8A65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3496544" y="2715768"/>
            <a:ext cx="1920240" cy="1554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18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score &gt; threshold</a:t>
            </a:r>
            <a:endParaRPr lang="en-US" sz="1200" dirty="0">
              <a:solidFill>
                <a:srgbClr val="10182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0" name="Shape 238"/>
          <p:cNvSpPr/>
          <p:nvPr/>
        </p:nvSpPr>
        <p:spPr>
          <a:xfrm>
            <a:off x="14456664" y="3017520"/>
            <a:ext cx="0" cy="219456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241" name="Text 239"/>
          <p:cNvSpPr/>
          <p:nvPr/>
        </p:nvSpPr>
        <p:spPr>
          <a:xfrm>
            <a:off x="13569950" y="3253105"/>
            <a:ext cx="1965960" cy="21272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 NMS / 应用层筛选</a:t>
            </a:r>
            <a:endParaRPr lang="en-US" sz="12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" name="Shape 240"/>
          <p:cNvSpPr/>
          <p:nvPr/>
        </p:nvSpPr>
        <p:spPr>
          <a:xfrm>
            <a:off x="13496544" y="3538728"/>
            <a:ext cx="1920240" cy="393192"/>
          </a:xfrm>
          <a:prstGeom prst="roundRect">
            <a:avLst>
              <a:gd name="adj" fmla="val 13953"/>
            </a:avLst>
          </a:prstGeom>
          <a:solidFill>
            <a:srgbClr val="EEF8EF"/>
          </a:solidFill>
          <a:ln w="8255">
            <a:solidFill>
              <a:srgbClr val="4F8A65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3496544" y="3621024"/>
            <a:ext cx="192024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抑制重叠框，保留最优结果</a:t>
            </a:r>
            <a:endParaRPr lang="en-US" sz="10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4" name="Shape 242"/>
          <p:cNvSpPr/>
          <p:nvPr/>
        </p:nvSpPr>
        <p:spPr>
          <a:xfrm>
            <a:off x="14456664" y="3931920"/>
            <a:ext cx="0" cy="292608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245" name="Shape 243"/>
          <p:cNvSpPr/>
          <p:nvPr/>
        </p:nvSpPr>
        <p:spPr>
          <a:xfrm>
            <a:off x="13496544" y="4197477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EEF8EF"/>
          </a:solidFill>
          <a:ln w="8255">
            <a:solidFill>
              <a:srgbClr val="4F8A6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3496544" y="4199890"/>
            <a:ext cx="19202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最终检测结果</a:t>
            </a:r>
            <a:endParaRPr lang="en-US" sz="1200" b="1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4" name="Text 262"/>
          <p:cNvSpPr/>
          <p:nvPr/>
        </p:nvSpPr>
        <p:spPr>
          <a:xfrm>
            <a:off x="13642848" y="5760720"/>
            <a:ext cx="164592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6B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后处理设备：ARM CPU</a:t>
            </a:r>
            <a:endParaRPr lang="en-US" sz="900" b="1" dirty="0">
              <a:solidFill>
                <a:srgbClr val="2A6B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Shape 38"/>
          <p:cNvSpPr/>
          <p:nvPr/>
        </p:nvSpPr>
        <p:spPr>
          <a:xfrm rot="5220000">
            <a:off x="693420" y="3147695"/>
            <a:ext cx="370840" cy="807720"/>
          </a:xfrm>
          <a:prstGeom prst="line">
            <a:avLst/>
          </a:prstGeom>
          <a:noFill/>
          <a:ln w="9525">
            <a:solidFill>
              <a:srgbClr val="173D6B"/>
            </a:solidFill>
            <a:prstDash val="solid"/>
            <a:headEnd type="none"/>
            <a:tailEnd type="triangle"/>
          </a:ln>
        </p:spPr>
      </p:sp>
      <p:sp>
        <p:nvSpPr>
          <p:cNvPr id="267" name="Shape 73"/>
          <p:cNvSpPr/>
          <p:nvPr/>
        </p:nvSpPr>
        <p:spPr>
          <a:xfrm>
            <a:off x="8412480" y="4517644"/>
            <a:ext cx="1472184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6985">
            <a:solidFill>
              <a:srgbClr val="8C96A3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8476615" y="4580890"/>
            <a:ext cx="1343660" cy="1115695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171450" indent="-171450" algn="l">
              <a:buFont typeface="Wingdings" panose="05000000000000000000" charset="0"/>
              <a:buChar char="Ø"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/ 输出张量描述</a:t>
            </a: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输出：count + ROI[6]</a:t>
            </a: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数据类型与精度</a:t>
            </a: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AIPP 配置信息</a:t>
            </a: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设备信息（NPU 型号等）</a:t>
            </a: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r>
              <a:rPr lang="en-US" sz="900" dirty="0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其他运行时信息</a:t>
            </a:r>
            <a:endParaRPr lang="en-US" sz="900" dirty="0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8" name="图片 2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1745" y="4480560"/>
            <a:ext cx="988695" cy="961390"/>
          </a:xfrm>
          <a:prstGeom prst="rect">
            <a:avLst/>
          </a:prstGeom>
        </p:spPr>
      </p:pic>
      <p:sp>
        <p:nvSpPr>
          <p:cNvPr id="352" name="Rectangle 351"/>
          <p:cNvSpPr/>
          <p:nvPr/>
        </p:nvSpPr>
        <p:spPr>
          <a:xfrm>
            <a:off x="13816393" y="4416615"/>
            <a:ext cx="475488" cy="146304"/>
          </a:xfrm>
          <a:prstGeom prst="rect">
            <a:avLst/>
          </a:prstGeom>
          <a:solidFill>
            <a:srgbClr val="FF0000"/>
          </a:solidFill>
          <a:ln w="2540">
            <a:solidFill>
              <a:srgbClr val="46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520" b="0">
                <a:solidFill>
                  <a:srgbClr val="FFFFFF"/>
                </a:solidFill>
                <a:latin typeface="Arial" panose="020B0604020202020204"/>
              </a:rPr>
              <a:t>person 0.92</a:t>
            </a:r>
            <a:endParaRPr sz="52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53" name="Rectangle 352"/>
          <p:cNvSpPr/>
          <p:nvPr/>
        </p:nvSpPr>
        <p:spPr>
          <a:xfrm>
            <a:off x="14561502" y="4617910"/>
            <a:ext cx="457200" cy="146304"/>
          </a:xfrm>
          <a:prstGeom prst="rect">
            <a:avLst/>
          </a:prstGeom>
          <a:solidFill>
            <a:srgbClr val="529995"/>
          </a:solidFill>
          <a:ln w="2540">
            <a:solidFill>
              <a:srgbClr val="529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520" b="0" dirty="0" err="1">
                <a:solidFill>
                  <a:srgbClr val="FFFFFF"/>
                </a:solidFill>
                <a:latin typeface="Arial" panose="020B0604020202020204"/>
              </a:rPr>
              <a:t>ebike</a:t>
            </a:r>
            <a:r>
              <a:rPr sz="520" b="0" dirty="0">
                <a:solidFill>
                  <a:srgbClr val="FFFFFF"/>
                </a:solidFill>
                <a:latin typeface="Arial" panose="020B0604020202020204"/>
              </a:rPr>
              <a:t> 0.87</a:t>
            </a:r>
            <a:endParaRPr sz="520" b="0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WPS 演示</Application>
  <PresentationFormat>On-screen Show (16:9)</PresentationFormat>
  <Paragraphs>160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MS PGothic</vt:lpstr>
      <vt:lpstr>微软雅黑</vt:lpstr>
      <vt:lpstr>Arial Unicode MS</vt:lpstr>
      <vt:lpstr>等线</vt:lpstr>
      <vt:lpstr>Calibri</vt:lpstr>
      <vt:lpstr>MingLiU-ExtB</vt:lpstr>
      <vt:lpstr>Times New Roman</vt:lpstr>
      <vt:lpstr>Wingdings</vt:lpstr>
      <vt:lpstr>Arial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海思/昇腾类开发板上的 YOLO 部署链路</dc:title>
  <dc:creator>OpenAI</dc:creator>
  <dc:subject>editable native PPT reconstruction</dc:subject>
  <cp:lastModifiedBy>青灯</cp:lastModifiedBy>
  <cp:revision>5</cp:revision>
  <dcterms:created xsi:type="dcterms:W3CDTF">2026-04-28T07:34:00Z</dcterms:created>
  <dcterms:modified xsi:type="dcterms:W3CDTF">2026-04-28T08:09:42Z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B4A8F48D39934D74BB94A51D5C598B7F_13</vt:lpwstr>
  </property>
</Properties>
</file>