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88767" cy="8604503"/>
          </a:xfrm>
          <a:prstGeom prst="rect">
            <a:avLst/>
          </a:prstGeom>
          <a:solidFill>
            <a:srgbClr val="FBFDFF"/>
          </a:solidFill>
          <a:ln w="12700">
            <a:solidFill>
              <a:srgbClr val="8FA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1" y="91439"/>
            <a:ext cx="2651759" cy="658367"/>
          </a:xfrm>
          <a:prstGeom prst="rect">
            <a:avLst/>
          </a:prstGeom>
          <a:solidFill>
            <a:srgbClr val="FBFDFF"/>
          </a:solidFill>
          <a:ln w="12700">
            <a:solidFill>
              <a:srgbClr val="8CA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" y="164591"/>
            <a:ext cx="2651759" cy="25603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900" b="1">
                <a:solidFill>
                  <a:srgbClr val="111827"/>
                </a:solidFill>
                <a:latin typeface="Noto Sans CJK SC"/>
              </a:rPr>
              <a:t>训练端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" y="438911"/>
            <a:ext cx="2651759" cy="219455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250" b="0">
                <a:solidFill>
                  <a:srgbClr val="111827"/>
                </a:solidFill>
                <a:latin typeface="Noto Sans CJK SC"/>
              </a:rPr>
              <a:t>模型训练与权重产出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2724911" y="91439"/>
            <a:ext cx="7242047" cy="658367"/>
          </a:xfrm>
          <a:prstGeom prst="rect">
            <a:avLst/>
          </a:prstGeom>
          <a:solidFill>
            <a:srgbClr val="FBFDFF"/>
          </a:solidFill>
          <a:ln w="12700">
            <a:solidFill>
              <a:srgbClr val="8CA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24911" y="164591"/>
            <a:ext cx="7242047" cy="25603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900" b="1">
                <a:solidFill>
                  <a:srgbClr val="111827"/>
                </a:solidFill>
                <a:latin typeface="Noto Sans CJK SC"/>
              </a:rPr>
              <a:t>模型格式转换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4911" y="438911"/>
            <a:ext cx="7242047" cy="219455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250" b="0">
                <a:solidFill>
                  <a:srgbClr val="111827"/>
                </a:solidFill>
                <a:latin typeface="Noto Sans CJK SC"/>
              </a:rPr>
              <a:t>围绕特别板端可执行模型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9966959" y="91439"/>
            <a:ext cx="5248655" cy="658367"/>
          </a:xfrm>
          <a:prstGeom prst="rect">
            <a:avLst/>
          </a:prstGeom>
          <a:solidFill>
            <a:srgbClr val="FBFDFF"/>
          </a:solidFill>
          <a:ln w="12700">
            <a:solidFill>
              <a:srgbClr val="8CA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9" y="164591"/>
            <a:ext cx="5248655" cy="25603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900" b="1">
                <a:solidFill>
                  <a:srgbClr val="111827"/>
                </a:solidFill>
                <a:latin typeface="Noto Sans CJK SC"/>
              </a:rPr>
              <a:t>板端运行与后处理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9" y="438911"/>
            <a:ext cx="5248655" cy="219455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250" b="0">
                <a:solidFill>
                  <a:srgbClr val="111827"/>
                </a:solidFill>
                <a:latin typeface="Noto Sans CJK SC"/>
              </a:rPr>
              <a:t>板端推理、解码、NMS 与安全输出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06623" y="768095"/>
            <a:ext cx="0" cy="6382512"/>
          </a:xfrm>
          <a:prstGeom prst="line">
            <a:avLst/>
          </a:prstGeom>
          <a:ln w="12700">
            <a:solidFill>
              <a:srgbClr val="B9C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66959" y="768095"/>
            <a:ext cx="0" cy="6382512"/>
          </a:xfrm>
          <a:prstGeom prst="line">
            <a:avLst/>
          </a:prstGeom>
          <a:ln w="12700">
            <a:solidFill>
              <a:srgbClr val="B9C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82879" y="932687"/>
            <a:ext cx="2176271" cy="61630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9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79" y="932687"/>
            <a:ext cx="2176271" cy="576071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3" y="987551"/>
            <a:ext cx="2066543" cy="47548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1. 训练权重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PyTorch / YOLO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54095" y="932687"/>
            <a:ext cx="1828799" cy="61630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9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54095" y="932687"/>
            <a:ext cx="1828799" cy="576071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59" y="987551"/>
            <a:ext cx="1719071" cy="47548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2. ONNX 导出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中间表示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7" y="932687"/>
            <a:ext cx="2395727" cy="61630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9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1807" y="932687"/>
            <a:ext cx="2395727" cy="576071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76671" y="987551"/>
            <a:ext cx="2285999" cy="47548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3. ATC 编译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算子适配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6447" y="932687"/>
            <a:ext cx="1627631" cy="61630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9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6447" y="932687"/>
            <a:ext cx="1627631" cy="576071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1" y="987551"/>
            <a:ext cx="1517903" cy="47548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4. OM 模型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离线模型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86999" y="932687"/>
            <a:ext cx="2011679" cy="61630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9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86999" y="932687"/>
            <a:ext cx="2011679" cy="576071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41863" y="987551"/>
            <a:ext cx="1901951" cy="47548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5. NPU 推理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模型执行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38175" y="932687"/>
            <a:ext cx="2231135" cy="61630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9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838175" y="932687"/>
            <a:ext cx="2231135" cy="576071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93039" y="987551"/>
            <a:ext cx="2121408" cy="47548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6. 解码与 NMS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安全输出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50591" y="3255263"/>
            <a:ext cx="530352" cy="731519"/>
          </a:xfrm>
          <a:prstGeom prst="rect">
            <a:avLst/>
          </a:prstGeom>
          <a:solidFill>
            <a:srgbClr val="F8FBFF"/>
          </a:solidFill>
          <a:ln w="12700">
            <a:solidFill>
              <a:srgbClr val="7C9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79" y="3291839"/>
            <a:ext cx="493775" cy="65836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输出语义</a:t>
            </a:r>
          </a:p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尺寸 /</a:t>
            </a:r>
          </a:p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通道 /</a:t>
            </a:r>
          </a:p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归一化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017519" y="3749039"/>
            <a:ext cx="365759" cy="164591"/>
          </a:xfrm>
          <a:prstGeom prst="right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19471" y="3364991"/>
            <a:ext cx="530352" cy="731519"/>
          </a:xfrm>
          <a:prstGeom prst="rect">
            <a:avLst/>
          </a:prstGeom>
          <a:solidFill>
            <a:srgbClr val="F8FBFF"/>
          </a:solidFill>
          <a:ln w="12700">
            <a:solidFill>
              <a:srgbClr val="7C9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59" y="3401567"/>
            <a:ext cx="493775" cy="65836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图结构及</a:t>
            </a:r>
          </a:p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算子</a:t>
            </a:r>
          </a:p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通用名称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486399" y="3858768"/>
            <a:ext cx="365759" cy="164591"/>
          </a:xfrm>
          <a:prstGeom prst="right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54111" y="3383279"/>
            <a:ext cx="420623" cy="731519"/>
          </a:xfrm>
          <a:prstGeom prst="rect">
            <a:avLst/>
          </a:prstGeom>
          <a:solidFill>
            <a:srgbClr val="F8FBFF"/>
          </a:solidFill>
          <a:ln w="12700">
            <a:solidFill>
              <a:srgbClr val="7C9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399" y="3419855"/>
            <a:ext cx="384047" cy="65836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设备可</a:t>
            </a:r>
          </a:p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执行语义 /</a:t>
            </a:r>
          </a:p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算子适配 /</a:t>
            </a:r>
          </a:p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尺度信息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211311" y="3877055"/>
            <a:ext cx="365759" cy="164591"/>
          </a:xfrm>
          <a:prstGeom prst="right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11511" y="3511295"/>
            <a:ext cx="530352" cy="731519"/>
          </a:xfrm>
          <a:prstGeom prst="rect">
            <a:avLst/>
          </a:prstGeom>
          <a:solidFill>
            <a:srgbClr val="F8FBFF"/>
          </a:solidFill>
          <a:ln w="12700">
            <a:solidFill>
              <a:srgbClr val="7C9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29799" y="3547871"/>
            <a:ext cx="493775" cy="65836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模型包及</a:t>
            </a:r>
          </a:p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运行配置 /</a:t>
            </a:r>
          </a:p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输入</a:t>
            </a:r>
          </a:p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请求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0378439" y="4005071"/>
            <a:ext cx="365759" cy="164591"/>
          </a:xfrm>
          <a:prstGeom prst="right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344399" y="3767327"/>
            <a:ext cx="530352" cy="731519"/>
          </a:xfrm>
          <a:prstGeom prst="rect">
            <a:avLst/>
          </a:prstGeom>
          <a:solidFill>
            <a:srgbClr val="F8FBFF"/>
          </a:solidFill>
          <a:ln w="12700">
            <a:solidFill>
              <a:srgbClr val="7C93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62687" y="3803903"/>
            <a:ext cx="493775" cy="65836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输出结果</a:t>
            </a:r>
          </a:p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张量 /</a:t>
            </a:r>
          </a:p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送入</a:t>
            </a:r>
          </a:p>
          <a:p>
            <a:pPr algn="ctr"/>
            <a:r>
              <a:rPr sz="950" b="0">
                <a:solidFill>
                  <a:srgbClr val="1D3954"/>
                </a:solidFill>
                <a:latin typeface="Noto Sans CJK SC"/>
              </a:rPr>
              <a:t>NMS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12911327" y="4261103"/>
            <a:ext cx="365759" cy="164591"/>
          </a:xfrm>
          <a:prstGeom prst="right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19" y="1636775"/>
            <a:ext cx="1993391" cy="25603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120" b="1">
                <a:solidFill>
                  <a:srgbClr val="111827"/>
                </a:solidFill>
                <a:latin typeface="Noto Sans CJK SC"/>
              </a:rPr>
              <a:t>YOLO 网络结构（简化）</a:t>
            </a:r>
          </a:p>
        </p:txBody>
      </p:sp>
      <p:pic>
        <p:nvPicPr>
          <p:cNvPr id="48" name="Picture 47" descr="stage1_network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1" y="2084831"/>
            <a:ext cx="2029967" cy="713231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84047" y="3099815"/>
            <a:ext cx="1783079" cy="23774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Noto Sans CJK SC"/>
              </a:rPr>
              <a:t>权重参数（部分张量示意）</a:t>
            </a:r>
          </a:p>
        </p:txBody>
      </p:sp>
      <p:pic>
        <p:nvPicPr>
          <p:cNvPr id="50" name="Picture 49" descr="stage1_weight_tens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3419855"/>
            <a:ext cx="2011679" cy="1014983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57199" y="4773167"/>
            <a:ext cx="1627631" cy="23774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Noto Sans CJK SC"/>
              </a:rPr>
              <a:t>检测类（双目标）</a:t>
            </a:r>
          </a:p>
        </p:txBody>
      </p:sp>
      <p:pic>
        <p:nvPicPr>
          <p:cNvPr id="52" name="Picture 51" descr="stage1_class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3" y="5010912"/>
            <a:ext cx="1993391" cy="79552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74319" y="5925311"/>
            <a:ext cx="1993391" cy="25603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850" b="0">
                <a:solidFill>
                  <a:srgbClr val="111827"/>
                </a:solidFill>
                <a:latin typeface="Noto Sans CJK SC"/>
              </a:rPr>
              <a:t>输出维度：[batch, anchors, (5 + num_classes)]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3463" y="6364223"/>
            <a:ext cx="1993391" cy="384047"/>
          </a:xfrm>
          <a:prstGeom prst="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3" y="6428231"/>
            <a:ext cx="1901951" cy="23774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类别语义顺序：person(0) / ebike(1)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19855" y="1691639"/>
            <a:ext cx="1097279" cy="25603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250" b="1">
                <a:solidFill>
                  <a:srgbClr val="0D3157"/>
                </a:solidFill>
                <a:latin typeface="Noto Sans CJK SC"/>
              </a:rPr>
              <a:t>ONNX graph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438143" y="2121408"/>
            <a:ext cx="1042415" cy="512063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83863" y="2157983"/>
            <a:ext cx="950975" cy="43891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80" b="0">
                <a:solidFill>
                  <a:srgbClr val="111827"/>
                </a:solidFill>
                <a:latin typeface="Noto Sans CJK SC"/>
              </a:rPr>
              <a:t>输入张量</a:t>
            </a:r>
          </a:p>
          <a:p>
            <a:pPr algn="ctr"/>
            <a:r>
              <a:rPr sz="980" b="0">
                <a:solidFill>
                  <a:srgbClr val="111827"/>
                </a:solidFill>
                <a:latin typeface="Noto Sans CJK SC"/>
              </a:rPr>
              <a:t>[1, 3, H, W]</a:t>
            </a:r>
          </a:p>
        </p:txBody>
      </p:sp>
      <p:sp>
        <p:nvSpPr>
          <p:cNvPr id="59" name="Down Arrow 58"/>
          <p:cNvSpPr/>
          <p:nvPr/>
        </p:nvSpPr>
        <p:spPr>
          <a:xfrm>
            <a:off x="3895344" y="2706623"/>
            <a:ext cx="164591" cy="219455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438143" y="2907791"/>
            <a:ext cx="1042415" cy="512063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83863" y="2944367"/>
            <a:ext cx="950975" cy="43891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80" b="0">
                <a:solidFill>
                  <a:srgbClr val="111827"/>
                </a:solidFill>
                <a:latin typeface="Noto Sans CJK SC"/>
              </a:rPr>
              <a:t>Conv</a:t>
            </a:r>
          </a:p>
          <a:p>
            <a:pPr algn="ctr"/>
            <a:r>
              <a:rPr sz="980" b="0">
                <a:solidFill>
                  <a:srgbClr val="111827"/>
                </a:solidFill>
                <a:latin typeface="Noto Sans CJK SC"/>
              </a:rPr>
              <a:t>[1, C1, H/2, W/2]</a:t>
            </a:r>
          </a:p>
        </p:txBody>
      </p:sp>
      <p:sp>
        <p:nvSpPr>
          <p:cNvPr id="62" name="Down Arrow 61"/>
          <p:cNvSpPr/>
          <p:nvPr/>
        </p:nvSpPr>
        <p:spPr>
          <a:xfrm>
            <a:off x="3895344" y="3493007"/>
            <a:ext cx="164591" cy="219455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438143" y="3675887"/>
            <a:ext cx="1042415" cy="512063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83863" y="3712463"/>
            <a:ext cx="950975" cy="43891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80" b="0">
                <a:solidFill>
                  <a:srgbClr val="111827"/>
                </a:solidFill>
                <a:latin typeface="Noto Sans CJK SC"/>
              </a:rPr>
              <a:t>SiLU</a:t>
            </a:r>
          </a:p>
          <a:p>
            <a:pPr algn="ctr"/>
            <a:r>
              <a:rPr sz="980" b="0">
                <a:solidFill>
                  <a:srgbClr val="111827"/>
                </a:solidFill>
                <a:latin typeface="Noto Sans CJK SC"/>
              </a:rPr>
              <a:t>[1, C1, H/2, W/2]</a:t>
            </a:r>
          </a:p>
        </p:txBody>
      </p:sp>
      <p:sp>
        <p:nvSpPr>
          <p:cNvPr id="65" name="Down Arrow 64"/>
          <p:cNvSpPr/>
          <p:nvPr/>
        </p:nvSpPr>
        <p:spPr>
          <a:xfrm>
            <a:off x="3895344" y="4261103"/>
            <a:ext cx="164591" cy="219455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438143" y="4471416"/>
            <a:ext cx="1042415" cy="566927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83863" y="4507991"/>
            <a:ext cx="950975" cy="493775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80" b="0">
                <a:solidFill>
                  <a:srgbClr val="111827"/>
                </a:solidFill>
                <a:latin typeface="Noto Sans CJK SC"/>
              </a:rPr>
              <a:t>Detect Head</a:t>
            </a:r>
          </a:p>
          <a:p>
            <a:pPr algn="ctr"/>
            <a:r>
              <a:rPr sz="980" b="0">
                <a:solidFill>
                  <a:srgbClr val="111827"/>
                </a:solidFill>
                <a:latin typeface="Noto Sans CJK SC"/>
              </a:rPr>
              <a:t>[1, A×(5+2), Hs, Ws]</a:t>
            </a:r>
          </a:p>
        </p:txBody>
      </p:sp>
      <p:sp>
        <p:nvSpPr>
          <p:cNvPr id="68" name="Down Arrow 67"/>
          <p:cNvSpPr/>
          <p:nvPr/>
        </p:nvSpPr>
        <p:spPr>
          <a:xfrm>
            <a:off x="3895344" y="5111495"/>
            <a:ext cx="164591" cy="219455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438143" y="5230367"/>
            <a:ext cx="1042415" cy="640079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83863" y="5266943"/>
            <a:ext cx="950975" cy="56692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80" b="0">
                <a:solidFill>
                  <a:srgbClr val="111827"/>
                </a:solidFill>
                <a:latin typeface="Noto Sans CJK SC"/>
              </a:rPr>
              <a:t>输出张量</a:t>
            </a:r>
          </a:p>
          <a:p>
            <a:pPr algn="ctr"/>
            <a:r>
              <a:rPr sz="980" b="0">
                <a:solidFill>
                  <a:srgbClr val="111827"/>
                </a:solidFill>
                <a:latin typeface="Noto Sans CJK SC"/>
              </a:rPr>
              <a:t>boxes / score / class</a:t>
            </a:r>
          </a:p>
          <a:p>
            <a:pPr algn="ctr"/>
            <a:r>
              <a:rPr sz="980" b="0">
                <a:solidFill>
                  <a:srgbClr val="111827"/>
                </a:solidFill>
                <a:latin typeface="Noto Sans CJK SC"/>
              </a:rPr>
              <a:t>[1, N, (5+2)]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82111" y="6309359"/>
            <a:ext cx="1572767" cy="530352"/>
          </a:xfrm>
          <a:prstGeom prst="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36975" y="6364223"/>
            <a:ext cx="1463039" cy="402335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111827"/>
                </a:solidFill>
                <a:latin typeface="Noto Sans CJK SC"/>
              </a:rPr>
              <a:t>注：</a:t>
            </a:r>
          </a:p>
          <a:p>
            <a:pPr algn="l"/>
            <a:r>
              <a:rPr sz="800" b="0">
                <a:solidFill>
                  <a:srgbClr val="111827"/>
                </a:solidFill>
                <a:latin typeface="Noto Sans CJK SC"/>
              </a:rPr>
              <a:t>N = 预测框个数，A=anchors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68111" y="1673351"/>
            <a:ext cx="731519" cy="38404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50" b="0">
                <a:solidFill>
                  <a:srgbClr val="0D3157"/>
                </a:solidFill>
                <a:latin typeface="Noto Sans CJK SC"/>
              </a:rPr>
              <a:t>ONNX 原始</a:t>
            </a:r>
          </a:p>
          <a:p>
            <a:pPr algn="ctr"/>
            <a:r>
              <a:rPr sz="950" b="0">
                <a:solidFill>
                  <a:srgbClr val="0D3157"/>
                </a:solidFill>
                <a:latin typeface="Noto Sans CJK SC"/>
              </a:rPr>
              <a:t>(FP32)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20839" y="1673351"/>
            <a:ext cx="877823" cy="38404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0D3157"/>
                </a:solidFill>
                <a:latin typeface="Noto Sans CJK SC"/>
              </a:rPr>
              <a:t>Ascend / NPU kernel</a:t>
            </a:r>
          </a:p>
          <a:p>
            <a:pPr algn="ctr"/>
            <a:r>
              <a:rPr sz="900" b="0">
                <a:solidFill>
                  <a:srgbClr val="0D3157"/>
                </a:solidFill>
                <a:latin typeface="Noto Sans CJK SC"/>
              </a:rPr>
              <a:t>(适配后)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68111" y="2231135"/>
            <a:ext cx="566927" cy="310896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13831" y="2267711"/>
            <a:ext cx="475487" cy="23774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Input</a:t>
            </a:r>
          </a:p>
        </p:txBody>
      </p:sp>
      <p:sp>
        <p:nvSpPr>
          <p:cNvPr id="77" name="Down Arrow 76"/>
          <p:cNvSpPr/>
          <p:nvPr/>
        </p:nvSpPr>
        <p:spPr>
          <a:xfrm>
            <a:off x="5687567" y="2560319"/>
            <a:ext cx="128015" cy="182879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468111" y="2834639"/>
            <a:ext cx="566927" cy="310896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13831" y="2871215"/>
            <a:ext cx="475487" cy="23774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Conv</a:t>
            </a:r>
          </a:p>
        </p:txBody>
      </p:sp>
      <p:sp>
        <p:nvSpPr>
          <p:cNvPr id="80" name="Down Arrow 79"/>
          <p:cNvSpPr/>
          <p:nvPr/>
        </p:nvSpPr>
        <p:spPr>
          <a:xfrm>
            <a:off x="5687567" y="3163823"/>
            <a:ext cx="128015" cy="182879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468111" y="3419855"/>
            <a:ext cx="566927" cy="310896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13831" y="3456431"/>
            <a:ext cx="475487" cy="23774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BN</a:t>
            </a:r>
          </a:p>
        </p:txBody>
      </p:sp>
      <p:sp>
        <p:nvSpPr>
          <p:cNvPr id="83" name="Down Arrow 82"/>
          <p:cNvSpPr/>
          <p:nvPr/>
        </p:nvSpPr>
        <p:spPr>
          <a:xfrm>
            <a:off x="5687567" y="3749039"/>
            <a:ext cx="128015" cy="182879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5468111" y="4005071"/>
            <a:ext cx="566927" cy="310896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13831" y="4041647"/>
            <a:ext cx="475487" cy="23774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SiLU</a:t>
            </a:r>
          </a:p>
        </p:txBody>
      </p:sp>
      <p:sp>
        <p:nvSpPr>
          <p:cNvPr id="86" name="Down Arrow 85"/>
          <p:cNvSpPr/>
          <p:nvPr/>
        </p:nvSpPr>
        <p:spPr>
          <a:xfrm>
            <a:off x="5687567" y="4334255"/>
            <a:ext cx="128015" cy="182879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5468111" y="4590288"/>
            <a:ext cx="566927" cy="310896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13831" y="4626864"/>
            <a:ext cx="475487" cy="23774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MatMul</a:t>
            </a:r>
          </a:p>
        </p:txBody>
      </p:sp>
      <p:sp>
        <p:nvSpPr>
          <p:cNvPr id="89" name="Down Arrow 88"/>
          <p:cNvSpPr/>
          <p:nvPr/>
        </p:nvSpPr>
        <p:spPr>
          <a:xfrm>
            <a:off x="5687567" y="4919471"/>
            <a:ext cx="128015" cy="182879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468111" y="5175503"/>
            <a:ext cx="566927" cy="310896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13831" y="5212079"/>
            <a:ext cx="475487" cy="23774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...</a:t>
            </a:r>
          </a:p>
        </p:txBody>
      </p:sp>
      <p:sp>
        <p:nvSpPr>
          <p:cNvPr id="92" name="Down Arrow 91"/>
          <p:cNvSpPr/>
          <p:nvPr/>
        </p:nvSpPr>
        <p:spPr>
          <a:xfrm>
            <a:off x="5687567" y="5504687"/>
            <a:ext cx="128015" cy="182879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5468111" y="5669279"/>
            <a:ext cx="566927" cy="310896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13831" y="5705855"/>
            <a:ext cx="475487" cy="23774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Detect Head</a:t>
            </a:r>
          </a:p>
        </p:txBody>
      </p:sp>
      <p:sp>
        <p:nvSpPr>
          <p:cNvPr id="95" name="Down Arrow 94"/>
          <p:cNvSpPr/>
          <p:nvPr/>
        </p:nvSpPr>
        <p:spPr>
          <a:xfrm>
            <a:off x="5687567" y="5998463"/>
            <a:ext cx="128015" cy="182879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5468111" y="6281927"/>
            <a:ext cx="566927" cy="310896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13831" y="6318503"/>
            <a:ext cx="475487" cy="23774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Output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720839" y="2249423"/>
            <a:ext cx="841247" cy="457199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66559" y="2285999"/>
            <a:ext cx="749807" cy="38404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AIPP</a:t>
            </a:r>
          </a:p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(预处理)</a:t>
            </a:r>
          </a:p>
        </p:txBody>
      </p:sp>
      <p:sp>
        <p:nvSpPr>
          <p:cNvPr id="100" name="Down Arrow 99"/>
          <p:cNvSpPr/>
          <p:nvPr/>
        </p:nvSpPr>
        <p:spPr>
          <a:xfrm>
            <a:off x="7077455" y="2770631"/>
            <a:ext cx="128015" cy="201167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720839" y="3017519"/>
            <a:ext cx="841247" cy="512063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66559" y="3054095"/>
            <a:ext cx="749807" cy="43891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Conv + BN</a:t>
            </a:r>
          </a:p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(融合)</a:t>
            </a:r>
          </a:p>
        </p:txBody>
      </p:sp>
      <p:sp>
        <p:nvSpPr>
          <p:cNvPr id="103" name="Down Arrow 102"/>
          <p:cNvSpPr/>
          <p:nvPr/>
        </p:nvSpPr>
        <p:spPr>
          <a:xfrm>
            <a:off x="7077455" y="3593591"/>
            <a:ext cx="128015" cy="201167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6720839" y="3794759"/>
            <a:ext cx="841247" cy="475487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766559" y="3831335"/>
            <a:ext cx="749807" cy="402335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SiLU</a:t>
            </a:r>
          </a:p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(融合)</a:t>
            </a:r>
          </a:p>
        </p:txBody>
      </p:sp>
      <p:sp>
        <p:nvSpPr>
          <p:cNvPr id="106" name="Down Arrow 105"/>
          <p:cNvSpPr/>
          <p:nvPr/>
        </p:nvSpPr>
        <p:spPr>
          <a:xfrm>
            <a:off x="7077455" y="4334255"/>
            <a:ext cx="128015" cy="201167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6720839" y="4571999"/>
            <a:ext cx="841247" cy="530352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766559" y="4608575"/>
            <a:ext cx="749807" cy="457199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MatMul</a:t>
            </a:r>
          </a:p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(映射优化)</a:t>
            </a:r>
          </a:p>
        </p:txBody>
      </p:sp>
      <p:sp>
        <p:nvSpPr>
          <p:cNvPr id="109" name="Down Arrow 108"/>
          <p:cNvSpPr/>
          <p:nvPr/>
        </p:nvSpPr>
        <p:spPr>
          <a:xfrm>
            <a:off x="7077455" y="5166359"/>
            <a:ext cx="128015" cy="201167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6720839" y="5376671"/>
            <a:ext cx="841247" cy="329183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766559" y="5413247"/>
            <a:ext cx="749807" cy="25603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...</a:t>
            </a:r>
          </a:p>
        </p:txBody>
      </p:sp>
      <p:sp>
        <p:nvSpPr>
          <p:cNvPr id="112" name="Down Arrow 111"/>
          <p:cNvSpPr/>
          <p:nvPr/>
        </p:nvSpPr>
        <p:spPr>
          <a:xfrm>
            <a:off x="7077455" y="5769863"/>
            <a:ext cx="128015" cy="201167"/>
          </a:xfrm>
          <a:prstGeom prst="down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720839" y="5815583"/>
            <a:ext cx="841247" cy="640079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766559" y="5852159"/>
            <a:ext cx="749807" cy="56692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Detect Head</a:t>
            </a:r>
          </a:p>
          <a:p>
            <a:pPr algn="ctr"/>
            <a:r>
              <a:rPr sz="919" b="0">
                <a:solidFill>
                  <a:srgbClr val="111827"/>
                </a:solidFill>
                <a:latin typeface="Noto Sans CJK SC"/>
              </a:rPr>
              <a:t>(自定义算子)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63055" y="3529583"/>
            <a:ext cx="548639" cy="43891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819" b="0">
                <a:solidFill>
                  <a:srgbClr val="1D3954"/>
                </a:solidFill>
                <a:latin typeface="Noto Sans CJK SC"/>
              </a:rPr>
              <a:t>operator</a:t>
            </a:r>
          </a:p>
          <a:p>
            <a:pPr algn="ctr"/>
            <a:r>
              <a:rPr sz="819" b="0">
                <a:solidFill>
                  <a:srgbClr val="1D3954"/>
                </a:solidFill>
                <a:latin typeface="Noto Sans CJK SC"/>
              </a:rPr>
              <a:t>lowering /</a:t>
            </a:r>
          </a:p>
          <a:p>
            <a:pPr algn="ctr"/>
            <a:r>
              <a:rPr sz="819" b="0">
                <a:solidFill>
                  <a:srgbClr val="1D3954"/>
                </a:solidFill>
                <a:latin typeface="Noto Sans CJK SC"/>
              </a:rPr>
              <a:t>fusion</a:t>
            </a:r>
          </a:p>
        </p:txBody>
      </p:sp>
      <p:sp>
        <p:nvSpPr>
          <p:cNvPr id="116" name="Right Arrow 115"/>
          <p:cNvSpPr/>
          <p:nvPr/>
        </p:nvSpPr>
        <p:spPr>
          <a:xfrm>
            <a:off x="6245351" y="4005071"/>
            <a:ext cx="384047" cy="164591"/>
          </a:xfrm>
          <a:prstGeom prst="right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404103" y="6620255"/>
            <a:ext cx="2249423" cy="274319"/>
          </a:xfrm>
          <a:prstGeom prst="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49823" y="6665975"/>
            <a:ext cx="2157983" cy="16459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760" b="0">
                <a:solidFill>
                  <a:srgbClr val="111827"/>
                </a:solidFill>
                <a:latin typeface="Noto Sans CJK SC"/>
              </a:rPr>
              <a:t>主要优化：算子融合 / 格式转换 / 内存复用 / 调度适配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02751" y="1682495"/>
            <a:ext cx="1335023" cy="274319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Noto Sans CJK SC"/>
              </a:rPr>
              <a:t>OM 模型包结构（.om）</a:t>
            </a:r>
          </a:p>
        </p:txBody>
      </p:sp>
      <p:pic>
        <p:nvPicPr>
          <p:cNvPr id="120" name="Picture 119" descr="stage4_om_pack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7" y="2084831"/>
            <a:ext cx="1380743" cy="4727447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0405872" y="1691639"/>
            <a:ext cx="1773935" cy="25603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19" b="1">
                <a:solidFill>
                  <a:srgbClr val="111827"/>
                </a:solidFill>
                <a:latin typeface="Noto Sans CJK SC"/>
              </a:rPr>
              <a:t>NPU 执行结构（板端）</a:t>
            </a:r>
          </a:p>
        </p:txBody>
      </p:sp>
      <p:pic>
        <p:nvPicPr>
          <p:cNvPr id="122" name="Picture 121" descr="stage5_npu_execu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6727" y="2258568"/>
            <a:ext cx="1801367" cy="3840479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10515599" y="6382511"/>
            <a:ext cx="1554479" cy="411479"/>
          </a:xfrm>
          <a:prstGeom prst="rect">
            <a:avLst/>
          </a:prstGeom>
          <a:solidFill>
            <a:srgbClr val="FBFDFF"/>
          </a:solidFill>
          <a:ln w="12700">
            <a:solidFill>
              <a:srgbClr val="8B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52175" y="6446519"/>
            <a:ext cx="1481327" cy="274319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50" b="0">
                <a:solidFill>
                  <a:srgbClr val="111827"/>
                </a:solidFill>
                <a:latin typeface="Noto Sans CJK SC"/>
              </a:rPr>
              <a:t>执行 OM 模型：</a:t>
            </a:r>
          </a:p>
          <a:p>
            <a:pPr algn="ctr"/>
            <a:r>
              <a:rPr sz="950" b="0">
                <a:solidFill>
                  <a:srgbClr val="111827"/>
                </a:solidFill>
                <a:latin typeface="Noto Sans CJK SC"/>
              </a:rPr>
              <a:t>调度算子 / 并行计算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304519" y="1655063"/>
            <a:ext cx="1298447" cy="32918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50" b="1">
                <a:solidFill>
                  <a:srgbClr val="111827"/>
                </a:solidFill>
                <a:latin typeface="Noto Sans CJK SC"/>
              </a:rPr>
              <a:t>模型输出张量（原始）</a:t>
            </a:r>
          </a:p>
          <a:p>
            <a:pPr algn="ctr"/>
            <a:r>
              <a:rPr sz="950" b="1">
                <a:solidFill>
                  <a:srgbClr val="111827"/>
                </a:solidFill>
                <a:latin typeface="Noto Sans CJK SC"/>
              </a:rPr>
              <a:t>[1, N, (5+2)]</a:t>
            </a:r>
          </a:p>
        </p:txBody>
      </p:sp>
      <p:pic>
        <p:nvPicPr>
          <p:cNvPr id="126" name="Picture 125" descr="stage6_tensor_stri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7047" y="2048255"/>
            <a:ext cx="2048255" cy="329183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13304519" y="2551175"/>
            <a:ext cx="1188719" cy="219455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50" b="1">
                <a:solidFill>
                  <a:srgbClr val="111827"/>
                </a:solidFill>
                <a:latin typeface="Noto Sans CJK SC"/>
              </a:rPr>
              <a:t>bbox decode（坐标还原）</a:t>
            </a:r>
          </a:p>
        </p:txBody>
      </p:sp>
      <p:pic>
        <p:nvPicPr>
          <p:cNvPr id="128" name="Picture 127" descr="stage6_bbox_de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9343" y="2825495"/>
            <a:ext cx="1892807" cy="923543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13167359" y="3822191"/>
            <a:ext cx="1554479" cy="20116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860" b="1">
                <a:solidFill>
                  <a:srgbClr val="111827"/>
                </a:solidFill>
                <a:latin typeface="Noto Sans CJK SC"/>
              </a:rPr>
              <a:t>类别分数（person / ebike）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3286231" y="4023359"/>
            <a:ext cx="1298447" cy="146303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750" b="0">
                <a:solidFill>
                  <a:srgbClr val="111827"/>
                </a:solidFill>
                <a:latin typeface="Noto Sans CJK SC"/>
              </a:rPr>
              <a:t>sigmoid / softmax</a:t>
            </a:r>
          </a:p>
        </p:txBody>
      </p:sp>
      <p:pic>
        <p:nvPicPr>
          <p:cNvPr id="131" name="Picture 130" descr="stage6_class_scor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86815" y="4261103"/>
            <a:ext cx="1499615" cy="384047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13258799" y="4590288"/>
            <a:ext cx="1371599" cy="201167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50" b="1">
                <a:solidFill>
                  <a:srgbClr val="111827"/>
                </a:solidFill>
                <a:latin typeface="Noto Sans CJK SC"/>
              </a:rPr>
              <a:t>NMS 后结果（保留框）</a:t>
            </a:r>
          </a:p>
        </p:txBody>
      </p:sp>
      <p:pic>
        <p:nvPicPr>
          <p:cNvPr id="133" name="Picture 132" descr="stage6_detection_resul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7047" y="4809743"/>
            <a:ext cx="2048255" cy="1298447"/>
          </a:xfrm>
          <a:prstGeom prst="rect">
            <a:avLst/>
          </a:prstGeom>
        </p:spPr>
      </p:pic>
      <p:pic>
        <p:nvPicPr>
          <p:cNvPr id="134" name="Picture 133" descr="stage6_result_tab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47903" y="6208775"/>
            <a:ext cx="2048255" cy="841247"/>
          </a:xfrm>
          <a:prstGeom prst="rect">
            <a:avLst/>
          </a:prstGeom>
        </p:spPr>
      </p:pic>
      <p:cxnSp>
        <p:nvCxnSpPr>
          <p:cNvPr id="135" name="Connector 134"/>
          <p:cNvCxnSpPr/>
          <p:nvPr/>
        </p:nvCxnSpPr>
        <p:spPr>
          <a:xfrm>
            <a:off x="1042415" y="7452359"/>
            <a:ext cx="12490704" cy="0"/>
          </a:xfrm>
          <a:prstGeom prst="line">
            <a:avLst/>
          </a:prstGeom>
          <a:ln w="19050">
            <a:solidFill>
              <a:srgbClr val="123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ight Arrow 135"/>
          <p:cNvSpPr/>
          <p:nvPr/>
        </p:nvSpPr>
        <p:spPr>
          <a:xfrm>
            <a:off x="13496543" y="7360919"/>
            <a:ext cx="274319" cy="182879"/>
          </a:xfrm>
          <a:prstGeom prst="rightArrow">
            <a:avLst/>
          </a:prstGeom>
          <a:solidFill>
            <a:srgbClr val="12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291839" y="7269479"/>
            <a:ext cx="8778239" cy="31089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Noto Sans CJK SC"/>
              </a:rPr>
              <a:t>类别语义：person / ebike 顺序一致（训练  →  导出  →  编译  →  OM  →  推理  →  后处理）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82879" y="7882127"/>
            <a:ext cx="9509760" cy="0"/>
          </a:xfrm>
          <a:prstGeom prst="line">
            <a:avLst/>
          </a:prstGeom>
          <a:ln w="12700">
            <a:solidFill>
              <a:srgbClr val="123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82879" y="7772399"/>
            <a:ext cx="109728" cy="109728"/>
          </a:xfrm>
          <a:prstGeom prst="line">
            <a:avLst/>
          </a:prstGeom>
          <a:ln w="12700">
            <a:solidFill>
              <a:srgbClr val="123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9582911" y="7772399"/>
            <a:ext cx="109728" cy="109728"/>
          </a:xfrm>
          <a:prstGeom prst="line">
            <a:avLst/>
          </a:prstGeom>
          <a:ln w="12700">
            <a:solidFill>
              <a:srgbClr val="123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718303" y="7882127"/>
            <a:ext cx="219456" cy="118872"/>
          </a:xfrm>
          <a:prstGeom prst="line">
            <a:avLst/>
          </a:prstGeom>
          <a:ln w="12700">
            <a:solidFill>
              <a:srgbClr val="123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4937759" y="7882127"/>
            <a:ext cx="219456" cy="118872"/>
          </a:xfrm>
          <a:prstGeom prst="line">
            <a:avLst/>
          </a:prstGeom>
          <a:ln w="12700">
            <a:solidFill>
              <a:srgbClr val="123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182879" y="8065007"/>
            <a:ext cx="9509759" cy="34747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600" b="1">
                <a:solidFill>
                  <a:srgbClr val="0B2C53"/>
                </a:solidFill>
                <a:latin typeface="Noto Sans CJK SC"/>
              </a:rPr>
              <a:t>模型格式转换（离线）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10149839" y="7882127"/>
            <a:ext cx="4937760" cy="0"/>
          </a:xfrm>
          <a:prstGeom prst="line">
            <a:avLst/>
          </a:prstGeom>
          <a:ln w="12700">
            <a:solidFill>
              <a:srgbClr val="123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0149839" y="7772399"/>
            <a:ext cx="109728" cy="109728"/>
          </a:xfrm>
          <a:prstGeom prst="line">
            <a:avLst/>
          </a:prstGeom>
          <a:ln w="12700">
            <a:solidFill>
              <a:srgbClr val="123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4977872" y="7772399"/>
            <a:ext cx="109727" cy="109728"/>
          </a:xfrm>
          <a:prstGeom prst="line">
            <a:avLst/>
          </a:prstGeom>
          <a:ln w="12700">
            <a:solidFill>
              <a:srgbClr val="123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2399263" y="7882127"/>
            <a:ext cx="219456" cy="118872"/>
          </a:xfrm>
          <a:prstGeom prst="line">
            <a:avLst/>
          </a:prstGeom>
          <a:ln w="12700">
            <a:solidFill>
              <a:srgbClr val="123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2618719" y="7882127"/>
            <a:ext cx="219456" cy="118872"/>
          </a:xfrm>
          <a:prstGeom prst="line">
            <a:avLst/>
          </a:prstGeom>
          <a:ln w="12700">
            <a:solidFill>
              <a:srgbClr val="1239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10149839" y="8065007"/>
            <a:ext cx="4937759" cy="347471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600" b="1">
                <a:solidFill>
                  <a:srgbClr val="0B2C53"/>
                </a:solidFill>
                <a:latin typeface="Noto Sans CJK SC"/>
              </a:rPr>
              <a:t>板端运行与后处理（在线）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